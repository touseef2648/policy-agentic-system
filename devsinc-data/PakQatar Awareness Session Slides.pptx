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2" r:id="rId1"/>
  </p:sldMasterIdLst>
  <p:notesMasterIdLst>
    <p:notesMasterId r:id="rId30"/>
  </p:notesMasterIdLst>
  <p:handoutMasterIdLst>
    <p:handoutMasterId r:id="rId31"/>
  </p:handoutMasterIdLst>
  <p:sldIdLst>
    <p:sldId id="569" r:id="rId2"/>
    <p:sldId id="499" r:id="rId3"/>
    <p:sldId id="799" r:id="rId4"/>
    <p:sldId id="805" r:id="rId5"/>
    <p:sldId id="368" r:id="rId6"/>
    <p:sldId id="807" r:id="rId7"/>
    <p:sldId id="809" r:id="rId8"/>
    <p:sldId id="808" r:id="rId9"/>
    <p:sldId id="810" r:id="rId10"/>
    <p:sldId id="371" r:id="rId11"/>
    <p:sldId id="396" r:id="rId12"/>
    <p:sldId id="287" r:id="rId13"/>
    <p:sldId id="415" r:id="rId14"/>
    <p:sldId id="801" r:id="rId15"/>
    <p:sldId id="281" r:id="rId16"/>
    <p:sldId id="280" r:id="rId17"/>
    <p:sldId id="386" r:id="rId18"/>
    <p:sldId id="288" r:id="rId19"/>
    <p:sldId id="283" r:id="rId20"/>
    <p:sldId id="284" r:id="rId21"/>
    <p:sldId id="435" r:id="rId22"/>
    <p:sldId id="436" r:id="rId23"/>
    <p:sldId id="802" r:id="rId24"/>
    <p:sldId id="798" r:id="rId25"/>
    <p:sldId id="615" r:id="rId26"/>
    <p:sldId id="558" r:id="rId27"/>
    <p:sldId id="797" r:id="rId28"/>
    <p:sldId id="290" r:id="rId29"/>
  </p:sldIdLst>
  <p:sldSz cx="1206976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B4E7"/>
    <a:srgbClr val="A0413E"/>
    <a:srgbClr val="FFFFFF"/>
    <a:srgbClr val="0276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80" y="72"/>
      </p:cViewPr>
      <p:guideLst>
        <p:guide orient="horz" pos="2160"/>
        <p:guide pos="380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C49874-1BEF-4216-8669-93CF8D53E369}" type="datetime1">
              <a:rPr lang="en-US" smtClean="0"/>
              <a:t>24-Jul-23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EAAC248-847A-4FD0-AE77-6EE82B58D32B}" type="slidenum">
              <a:rPr lang="en-US" smtClean="0"/>
              <a:t>‹#›</a:t>
            </a:fld>
            <a:endParaRPr lang="en-US" dirty="0"/>
          </a:p>
        </p:txBody>
      </p:sp>
    </p:spTree>
    <p:extLst>
      <p:ext uri="{BB962C8B-B14F-4D97-AF65-F5344CB8AC3E}">
        <p14:creationId xmlns:p14="http://schemas.microsoft.com/office/powerpoint/2010/main" val="279439511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2424D0-3A66-486D-A026-E81BA8E2E540}" type="datetime1">
              <a:rPr lang="en-US" smtClean="0"/>
              <a:t>24-Jul-23</a:t>
            </a:fld>
            <a:endParaRPr lang="en-US" dirty="0"/>
          </a:p>
        </p:txBody>
      </p:sp>
      <p:sp>
        <p:nvSpPr>
          <p:cNvPr id="4" name="Slide Image Placeholder 3"/>
          <p:cNvSpPr>
            <a:spLocks noGrp="1" noRot="1" noChangeAspect="1"/>
          </p:cNvSpPr>
          <p:nvPr>
            <p:ph type="sldImg" idx="2"/>
          </p:nvPr>
        </p:nvSpPr>
        <p:spPr>
          <a:xfrm>
            <a:off x="412750" y="685800"/>
            <a:ext cx="6032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892366-611B-466C-BB52-4A45A3EFE262}" type="slidenum">
              <a:rPr lang="en-US" smtClean="0"/>
              <a:t>‹#›</a:t>
            </a:fld>
            <a:endParaRPr lang="en-US" dirty="0"/>
          </a:p>
        </p:txBody>
      </p:sp>
    </p:spTree>
    <p:extLst>
      <p:ext uri="{BB962C8B-B14F-4D97-AF65-F5344CB8AC3E}">
        <p14:creationId xmlns:p14="http://schemas.microsoft.com/office/powerpoint/2010/main" val="14371868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Shape 517"/>
          <p:cNvSpPr>
            <a:spLocks noGrp="1" noRot="1" noChangeAspect="1"/>
          </p:cNvSpPr>
          <p:nvPr>
            <p:ph type="sldImg" idx="2"/>
          </p:nvPr>
        </p:nvSpPr>
        <p:spPr>
          <a:xfrm>
            <a:off x="411163" y="685800"/>
            <a:ext cx="603567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18" name="Shape 51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874216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49C62F3-2AF1-4FE7-8E29-3C9DE10B1BD3}" type="slidenum">
              <a:rPr lang="en-US" altLang="en-US" smtClean="0"/>
              <a:pPr>
                <a:defRPr/>
              </a:pPr>
              <a:t>2</a:t>
            </a:fld>
            <a:endParaRPr lang="en-US" altLang="en-US" dirty="0"/>
          </a:p>
        </p:txBody>
      </p:sp>
    </p:spTree>
    <p:extLst>
      <p:ext uri="{BB962C8B-B14F-4D97-AF65-F5344CB8AC3E}">
        <p14:creationId xmlns:p14="http://schemas.microsoft.com/office/powerpoint/2010/main" val="2173080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8911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603488" y="274638"/>
            <a:ext cx="8046509" cy="1096962"/>
          </a:xfrm>
        </p:spPr>
        <p:txBody>
          <a:bodyPr/>
          <a:lstStyle/>
          <a:p>
            <a:r>
              <a:rPr lang="en-US"/>
              <a:t>Click to edit Master title style</a:t>
            </a: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610350"/>
            <a:ext cx="12069763" cy="247650"/>
          </a:xfrm>
          <a:prstGeom prst="rect">
            <a:avLst/>
          </a:prstGeom>
          <a:noFill/>
          <a:ln>
            <a:noFill/>
          </a:ln>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12584" y="192087"/>
            <a:ext cx="2483260"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06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53427" y="4406904"/>
            <a:ext cx="10259299"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53427" y="2906713"/>
            <a:ext cx="102592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1275734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3488" y="1600204"/>
            <a:ext cx="53308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35463" y="1600204"/>
            <a:ext cx="53308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222260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3489" y="1535113"/>
            <a:ext cx="533290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3489" y="2174875"/>
            <a:ext cx="533290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31274" y="1535113"/>
            <a:ext cx="533500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31274" y="2174875"/>
            <a:ext cx="533500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383187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3183826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3490" y="273050"/>
            <a:ext cx="3970868"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18943" y="273052"/>
            <a:ext cx="674733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3490" y="1435102"/>
            <a:ext cx="397086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422327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65759" y="4800600"/>
            <a:ext cx="7241858"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65759" y="612775"/>
            <a:ext cx="724185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65759" y="5367338"/>
            <a:ext cx="724185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3615064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1870125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50578" y="274639"/>
            <a:ext cx="2715697"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3488" y="274639"/>
            <a:ext cx="7945927"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091811-995E-4FD6-89EF-B40D8C1B4E61}" type="datetimeFigureOut">
              <a:rPr lang="en-US" smtClean="0"/>
              <a:t>24-Jul-23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DCB811-704F-4E23-8B66-176B8A53587C}" type="slidenum">
              <a:rPr lang="en-US" smtClean="0"/>
              <a:t>‹#›</a:t>
            </a:fld>
            <a:endParaRPr lang="en-US" dirty="0"/>
          </a:p>
        </p:txBody>
      </p:sp>
    </p:spTree>
    <p:extLst>
      <p:ext uri="{BB962C8B-B14F-4D97-AF65-F5344CB8AC3E}">
        <p14:creationId xmlns:p14="http://schemas.microsoft.com/office/powerpoint/2010/main" val="4039093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52D99D17-A832-49A6-8918-E8F154EA4D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5448" y="6587295"/>
            <a:ext cx="9912739" cy="16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A4547851-A26C-4A8D-8C2D-D697C1F3A66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7712" y="6178137"/>
            <a:ext cx="1866667" cy="714849"/>
          </a:xfrm>
          <a:prstGeom prst="rect">
            <a:avLst/>
          </a:prstGeom>
        </p:spPr>
      </p:pic>
    </p:spTree>
    <p:extLst>
      <p:ext uri="{BB962C8B-B14F-4D97-AF65-F5344CB8AC3E}">
        <p14:creationId xmlns:p14="http://schemas.microsoft.com/office/powerpoint/2010/main" val="316672941"/>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FECA688-3CB9-42F9-9F94-DF3C45E06D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5448" y="6587295"/>
            <a:ext cx="9912739" cy="16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 Same Side Corner Rectangle 2">
            <a:extLst>
              <a:ext uri="{FF2B5EF4-FFF2-40B4-BE49-F238E27FC236}">
                <a16:creationId xmlns:a16="http://schemas.microsoft.com/office/drawing/2014/main" id="{72F098EF-EAF1-4F20-99E2-F9D0BFD227DC}"/>
              </a:ext>
            </a:extLst>
          </p:cNvPr>
          <p:cNvSpPr/>
          <p:nvPr userDrawn="1"/>
        </p:nvSpPr>
        <p:spPr>
          <a:xfrm rot="10800000">
            <a:off x="1120686" y="2071"/>
            <a:ext cx="9439381" cy="727462"/>
          </a:xfrm>
          <a:prstGeom prst="round2SameRect">
            <a:avLst/>
          </a:prstGeom>
          <a:solidFill>
            <a:srgbClr val="8B0036"/>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782" dirty="0"/>
          </a:p>
        </p:txBody>
      </p:sp>
      <p:sp>
        <p:nvSpPr>
          <p:cNvPr id="8" name="Title 1">
            <a:extLst>
              <a:ext uri="{FF2B5EF4-FFF2-40B4-BE49-F238E27FC236}">
                <a16:creationId xmlns:a16="http://schemas.microsoft.com/office/drawing/2014/main" id="{1A64B0C1-E193-463E-AD3B-B4AD73560364}"/>
              </a:ext>
            </a:extLst>
          </p:cNvPr>
          <p:cNvSpPr>
            <a:spLocks noGrp="1"/>
          </p:cNvSpPr>
          <p:nvPr>
            <p:ph type="title"/>
          </p:nvPr>
        </p:nvSpPr>
        <p:spPr>
          <a:xfrm>
            <a:off x="1044859" y="0"/>
            <a:ext cx="9591035" cy="792002"/>
          </a:xfrm>
        </p:spPr>
        <p:txBody>
          <a:bodyPr>
            <a:normAutofit/>
          </a:bodyPr>
          <a:lstStyle>
            <a:lvl1pPr algn="ctr">
              <a:lnSpc>
                <a:spcPct val="90000"/>
              </a:lnSpc>
              <a:defRPr sz="2970">
                <a:solidFill>
                  <a:schemeClr val="bg1"/>
                </a:solidFill>
              </a:defRPr>
            </a:lvl1pPr>
          </a:lstStyle>
          <a:p>
            <a:r>
              <a:rPr lang="en-US" dirty="0"/>
              <a:t>Click to edit Master title style</a:t>
            </a:r>
          </a:p>
        </p:txBody>
      </p:sp>
      <p:pic>
        <p:nvPicPr>
          <p:cNvPr id="9" name="Picture 8">
            <a:extLst>
              <a:ext uri="{FF2B5EF4-FFF2-40B4-BE49-F238E27FC236}">
                <a16:creationId xmlns:a16="http://schemas.microsoft.com/office/drawing/2014/main" id="{F05C6044-62AF-4305-A158-57C7BDBBFD0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7712" y="6178137"/>
            <a:ext cx="1866667" cy="714849"/>
          </a:xfrm>
          <a:prstGeom prst="rect">
            <a:avLst/>
          </a:prstGeom>
        </p:spPr>
      </p:pic>
    </p:spTree>
    <p:extLst>
      <p:ext uri="{BB962C8B-B14F-4D97-AF65-F5344CB8AC3E}">
        <p14:creationId xmlns:p14="http://schemas.microsoft.com/office/powerpoint/2010/main" val="2615894914"/>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3488" y="274638"/>
            <a:ext cx="10862787"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3488" y="1600204"/>
            <a:ext cx="10862787"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3488" y="6356354"/>
            <a:ext cx="28162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BC89A1-A8A2-4049-817B-5B51E2F29874}" type="datetime1">
              <a:rPr lang="en-US" smtClean="0"/>
              <a:t>24-Jul-23</a:t>
            </a:fld>
            <a:endParaRPr lang="en-US" dirty="0"/>
          </a:p>
        </p:txBody>
      </p:sp>
      <p:sp>
        <p:nvSpPr>
          <p:cNvPr id="5" name="Footer Placeholder 4"/>
          <p:cNvSpPr>
            <a:spLocks noGrp="1"/>
          </p:cNvSpPr>
          <p:nvPr>
            <p:ph type="ftr" sz="quarter" idx="3"/>
          </p:nvPr>
        </p:nvSpPr>
        <p:spPr>
          <a:xfrm>
            <a:off x="4123836" y="6356354"/>
            <a:ext cx="382209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49997" y="6356354"/>
            <a:ext cx="281627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03097285"/>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9" r:id="rId5"/>
    <p:sldLayoutId id="2147483790" r:id="rId6"/>
    <p:sldLayoutId id="2147483791" r:id="rId7"/>
    <p:sldLayoutId id="2147483792" r:id="rId8"/>
    <p:sldLayoutId id="2147483793" r:id="rId9"/>
    <p:sldLayoutId id="2147483794" r:id="rId10"/>
    <p:sldLayoutId id="2147483795"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gif"/><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hyperlink" Target="../PROSPECTING/brocures%20products/health/Hospital%20List%20-%20Grid%20Wise%20with%20Room%20Limits.xls"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hyperlink" Target="mailto:approvals@pakqatar.com.pk" TargetMode="Externa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Takaful%20DOCS/Hospitalization%20Reimbursement%20Claim%20Form%20-%20Part%20B.pdf" TargetMode="External"/><Relationship Id="rId2" Type="http://schemas.openxmlformats.org/officeDocument/2006/relationships/hyperlink" Target="../../../../Takaful%20DOCS/Hospitalization%20Reimbursement%20Claim%20Form%20-%20Part%20A.pdf" TargetMode="Externa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Shape 520"/>
          <p:cNvSpPr txBox="1">
            <a:spLocks noGrp="1"/>
          </p:cNvSpPr>
          <p:nvPr>
            <p:ph type="title" idx="4294967295"/>
          </p:nvPr>
        </p:nvSpPr>
        <p:spPr>
          <a:xfrm>
            <a:off x="167481" y="3276600"/>
            <a:ext cx="7239000" cy="1096963"/>
          </a:xfrm>
          <a:prstGeom prst="rect">
            <a:avLst/>
          </a:prstGeom>
        </p:spPr>
        <p:txBody>
          <a:bodyPr vert="horz" wrap="square" lIns="117021" tIns="117021" rIns="117021" bIns="117021" numCol="1" rtlCol="0" anchor="ctr" anchorCtr="0" compatLnSpc="1">
            <a:prstTxWarp prst="textNoShape">
              <a:avLst/>
            </a:prstTxWarp>
            <a:noAutofit/>
          </a:bodyPr>
          <a:lstStyle/>
          <a:p>
            <a:pPr>
              <a:spcBef>
                <a:spcPts val="0"/>
              </a:spcBef>
            </a:pPr>
            <a:r>
              <a:rPr lang="en-US" sz="5400" b="1" dirty="0">
                <a:latin typeface="Arial Rounded MT Bold" panose="020F0704030504030204" pitchFamily="34" charset="0"/>
              </a:rPr>
              <a:t>Corporate </a:t>
            </a:r>
            <a:br>
              <a:rPr lang="en-US" sz="5400" b="1" dirty="0">
                <a:latin typeface="Arial Rounded MT Bold" panose="020F0704030504030204" pitchFamily="34" charset="0"/>
              </a:rPr>
            </a:br>
            <a:r>
              <a:rPr lang="en-US" sz="5400" b="1" dirty="0">
                <a:latin typeface="Arial Rounded MT Bold" panose="020F0704030504030204" pitchFamily="34" charset="0"/>
              </a:rPr>
              <a:t>Takaful Products</a:t>
            </a:r>
            <a:endParaRPr lang="en" sz="5400" b="1" dirty="0">
              <a:latin typeface="Arial Rounded MT Bold" panose="020F0704030504030204" pitchFamily="34" charset="0"/>
            </a:endParaRPr>
          </a:p>
        </p:txBody>
      </p:sp>
      <p:pic>
        <p:nvPicPr>
          <p:cNvPr id="13" name="Picture 12">
            <a:extLst>
              <a:ext uri="{FF2B5EF4-FFF2-40B4-BE49-F238E27FC236}">
                <a16:creationId xmlns:a16="http://schemas.microsoft.com/office/drawing/2014/main" id="{A3E82243-E5C4-40C8-B250-B1E053FC70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721" y="654490"/>
            <a:ext cx="2928377" cy="1121436"/>
          </a:xfrm>
          <a:prstGeom prst="rect">
            <a:avLst/>
          </a:prstGeom>
        </p:spPr>
      </p:pic>
      <p:pic>
        <p:nvPicPr>
          <p:cNvPr id="20" name="Picture 19">
            <a:extLst>
              <a:ext uri="{FF2B5EF4-FFF2-40B4-BE49-F238E27FC236}">
                <a16:creationId xmlns:a16="http://schemas.microsoft.com/office/drawing/2014/main" id="{9CD08F15-7160-402B-AB67-D121EAFE75B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096517" y="876299"/>
            <a:ext cx="4973246" cy="5105401"/>
          </a:xfrm>
          <a:prstGeom prst="rect">
            <a:avLst/>
          </a:prstGeom>
        </p:spPr>
      </p:pic>
      <p:pic>
        <p:nvPicPr>
          <p:cNvPr id="23" name="Picture 22">
            <a:extLst>
              <a:ext uri="{FF2B5EF4-FFF2-40B4-BE49-F238E27FC236}">
                <a16:creationId xmlns:a16="http://schemas.microsoft.com/office/drawing/2014/main" id="{A8A7C341-D12E-45E8-AD03-5B6245ED89EB}"/>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0" b="98216" l="0" r="100000">
                        <a14:foregroundMark x1="16047" y1="44590" x2="16047" y2="44590"/>
                        <a14:foregroundMark x1="24884" y1="32699" x2="24884" y2="32699"/>
                        <a14:foregroundMark x1="27326" y1="29370" x2="27326" y2="29370"/>
                        <a14:foregroundMark x1="25116" y1="27943" x2="25116" y2="27943"/>
                        <a14:foregroundMark x1="37558" y1="24019" x2="37558" y2="24019"/>
                        <a14:foregroundMark x1="40000" y1="28656" x2="40000" y2="28656"/>
                        <a14:foregroundMark x1="53372" y1="30559" x2="53372" y2="30559"/>
                        <a14:foregroundMark x1="68488" y1="34839" x2="68488" y2="34839"/>
                        <a14:foregroundMark x1="87093" y1="54935" x2="87093" y2="54935"/>
                        <a14:foregroundMark x1="93256" y1="69203" x2="93256" y2="69203"/>
                        <a14:foregroundMark x1="83721" y1="87634" x2="83721" y2="87634"/>
                        <a14:foregroundMark x1="68140" y1="87753" x2="68140" y2="87753"/>
                        <a14:foregroundMark x1="94884" y1="88942" x2="94884" y2="88942"/>
                        <a14:foregroundMark x1="16512" y1="64328" x2="16512" y2="64328"/>
                        <a14:foregroundMark x1="29070" y1="88942" x2="29070" y2="88942"/>
                        <a14:foregroundMark x1="33605" y1="74911" x2="33605" y2="74911"/>
                        <a14:foregroundMark x1="54302" y1="77765" x2="54302" y2="77765"/>
                        <a14:foregroundMark x1="55000" y1="72295" x2="55000" y2="72295"/>
                        <a14:foregroundMark x1="20698" y1="54697" x2="20698" y2="54697"/>
                        <a14:foregroundMark x1="21279" y1="58977" x2="21279" y2="58977"/>
                        <a14:foregroundMark x1="15116" y1="68728" x2="15116" y2="68728"/>
                        <a14:foregroundMark x1="18140" y1="34839" x2="18140" y2="34839"/>
                        <a14:foregroundMark x1="17674" y1="37693" x2="17674" y2="37693"/>
                        <a14:foregroundMark x1="37209" y1="37099" x2="37209" y2="37099"/>
                        <a14:foregroundMark x1="74884" y1="43044" x2="74884" y2="43044"/>
                        <a14:foregroundMark x1="78140" y1="47800" x2="78140" y2="47800"/>
                        <a14:foregroundMark x1="75698" y1="55054" x2="75698" y2="55054"/>
                        <a14:foregroundMark x1="92209" y1="61831" x2="92209" y2="61831"/>
                        <a14:foregroundMark x1="49186" y1="51605" x2="49186" y2="51605"/>
                        <a14:foregroundMark x1="76163" y1="92747" x2="76163" y2="92747"/>
                      </a14:backgroundRemoval>
                    </a14:imgEffect>
                  </a14:imgLayer>
                </a14:imgProps>
              </a:ext>
              <a:ext uri="{28A0092B-C50C-407E-A947-70E740481C1C}">
                <a14:useLocalDpi xmlns:a14="http://schemas.microsoft.com/office/drawing/2010/main" val="0"/>
              </a:ext>
            </a:extLst>
          </a:blip>
          <a:stretch>
            <a:fillRect/>
          </a:stretch>
        </p:blipFill>
        <p:spPr>
          <a:xfrm>
            <a:off x="5120481" y="-9473"/>
            <a:ext cx="1610954" cy="1575363"/>
          </a:xfrm>
          <a:prstGeom prst="rect">
            <a:avLst/>
          </a:prstGeom>
        </p:spPr>
      </p:pic>
      <p:sp>
        <p:nvSpPr>
          <p:cNvPr id="2" name="Rounded Rectangle 1"/>
          <p:cNvSpPr/>
          <p:nvPr/>
        </p:nvSpPr>
        <p:spPr>
          <a:xfrm>
            <a:off x="777081" y="4992664"/>
            <a:ext cx="58674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smtClean="0">
                <a:solidFill>
                  <a:srgbClr val="00B050"/>
                </a:solidFill>
              </a:rPr>
              <a:t>Developers Incorporate</a:t>
            </a:r>
            <a:endParaRPr lang="en-US" sz="2800" b="1" dirty="0">
              <a:solidFill>
                <a:srgbClr val="00B050"/>
              </a:solidFill>
            </a:endParaRPr>
          </a:p>
        </p:txBody>
      </p:sp>
    </p:spTree>
    <p:extLst>
      <p:ext uri="{BB962C8B-B14F-4D97-AF65-F5344CB8AC3E}">
        <p14:creationId xmlns:p14="http://schemas.microsoft.com/office/powerpoint/2010/main" val="315959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sz="quarter" idx="4294967295"/>
          </p:nvPr>
        </p:nvSpPr>
        <p:spPr>
          <a:xfrm>
            <a:off x="243681" y="1179873"/>
            <a:ext cx="11137900" cy="4525962"/>
          </a:xfrm>
        </p:spPr>
        <p:txBody>
          <a:bodyPr>
            <a:noAutofit/>
          </a:bodyPr>
          <a:lstStyle/>
          <a:p>
            <a:pPr marL="457200" lvl="1" indent="0">
              <a:buNone/>
            </a:pPr>
            <a:endParaRPr lang="en-US" altLang="en-US" sz="2000" b="1" dirty="0">
              <a:latin typeface="Arial Rounded MT Bold" panose="020F0704030504030204" pitchFamily="34" charset="0"/>
            </a:endParaRPr>
          </a:p>
          <a:p>
            <a:pPr marL="457200" lvl="1" indent="0">
              <a:buNone/>
            </a:pPr>
            <a:r>
              <a:rPr lang="en-US" altLang="en-US" sz="2000" b="1" dirty="0">
                <a:latin typeface="Arial Rounded MT Bold" panose="020F0704030504030204" pitchFamily="34" charset="0"/>
              </a:rPr>
              <a:t>Group </a:t>
            </a:r>
            <a:r>
              <a:rPr lang="en-US" altLang="en-US" sz="2000" b="1" dirty="0" smtClean="0">
                <a:latin typeface="Arial Rounded MT Bold" panose="020F0704030504030204" pitchFamily="34" charset="0"/>
              </a:rPr>
              <a:t>Health Care Takaful </a:t>
            </a:r>
            <a:r>
              <a:rPr lang="en-US" altLang="en-US" sz="2000" b="1" dirty="0">
                <a:latin typeface="Arial Rounded MT Bold" panose="020F0704030504030204" pitchFamily="34" charset="0"/>
              </a:rPr>
              <a:t>Scheme</a:t>
            </a:r>
          </a:p>
          <a:p>
            <a:pPr lvl="1">
              <a:buFont typeface="Wingdings" panose="05000000000000000000" pitchFamily="2" charset="2"/>
              <a:buChar char="§"/>
            </a:pPr>
            <a:endParaRPr lang="en-US" altLang="en-US" sz="2000" dirty="0">
              <a:latin typeface="Arial Rounded MT Bold" panose="020F0704030504030204" pitchFamily="34" charset="0"/>
            </a:endParaRPr>
          </a:p>
          <a:p>
            <a:pPr lvl="2">
              <a:buFont typeface="Wingdings" panose="05000000000000000000" pitchFamily="2" charset="2"/>
              <a:buChar char="§"/>
            </a:pPr>
            <a:r>
              <a:rPr lang="en-US" altLang="en-US" sz="1800" dirty="0" smtClean="0">
                <a:latin typeface="Arial Rounded MT Bold" panose="020F0704030504030204" pitchFamily="34" charset="0"/>
              </a:rPr>
              <a:t>Benefits Covered</a:t>
            </a:r>
          </a:p>
          <a:p>
            <a:pPr lvl="2">
              <a:buFont typeface="Wingdings" panose="05000000000000000000" pitchFamily="2" charset="2"/>
              <a:buChar char="§"/>
            </a:pPr>
            <a:r>
              <a:rPr lang="en-US" altLang="en-US" sz="1800" dirty="0" smtClean="0">
                <a:latin typeface="Arial Rounded MT Bold" panose="020F0704030504030204" pitchFamily="34" charset="0"/>
              </a:rPr>
              <a:t>Hospitalization</a:t>
            </a:r>
          </a:p>
          <a:p>
            <a:pPr lvl="2">
              <a:buFont typeface="Wingdings" panose="05000000000000000000" pitchFamily="2" charset="2"/>
              <a:buChar char="§"/>
            </a:pPr>
            <a:r>
              <a:rPr lang="en-US" altLang="en-US" sz="1800" dirty="0" smtClean="0">
                <a:latin typeface="Arial Rounded MT Bold" panose="020F0704030504030204" pitchFamily="34" charset="0"/>
              </a:rPr>
              <a:t>Day Care Treatment</a:t>
            </a:r>
          </a:p>
          <a:p>
            <a:pPr lvl="2">
              <a:buFont typeface="Wingdings" panose="05000000000000000000" pitchFamily="2" charset="2"/>
              <a:buChar char="§"/>
            </a:pPr>
            <a:r>
              <a:rPr lang="en-US" altLang="en-US" sz="1800" dirty="0" smtClean="0">
                <a:latin typeface="Arial Rounded MT Bold" panose="020F0704030504030204" pitchFamily="34" charset="0"/>
              </a:rPr>
              <a:t>Short Stay ER Treatment</a:t>
            </a:r>
          </a:p>
          <a:p>
            <a:pPr lvl="2">
              <a:buFont typeface="Wingdings" panose="05000000000000000000" pitchFamily="2" charset="2"/>
              <a:buChar char="§"/>
            </a:pPr>
            <a:r>
              <a:rPr lang="en-US" altLang="en-US" sz="1800" dirty="0" smtClean="0">
                <a:latin typeface="Arial Rounded MT Bold" panose="020F0704030504030204" pitchFamily="34" charset="0"/>
              </a:rPr>
              <a:t>Specialized Tests</a:t>
            </a:r>
            <a:endParaRPr lang="en-US" altLang="en-US" sz="1800" dirty="0">
              <a:latin typeface="Arial Rounded MT Bold" panose="020F0704030504030204" pitchFamily="34" charset="0"/>
            </a:endParaRPr>
          </a:p>
          <a:p>
            <a:pPr lvl="2">
              <a:buFont typeface="Wingdings" panose="05000000000000000000" pitchFamily="2" charset="2"/>
              <a:buChar char="§"/>
            </a:pPr>
            <a:r>
              <a:rPr lang="en-US" altLang="en-US" sz="1800" dirty="0" smtClean="0">
                <a:latin typeface="Arial Rounded MT Bold" panose="020F0704030504030204" pitchFamily="34" charset="0"/>
              </a:rPr>
              <a:t>How </a:t>
            </a:r>
            <a:r>
              <a:rPr lang="en-US" altLang="en-US" sz="1800" dirty="0">
                <a:latin typeface="Arial Rounded MT Bold" panose="020F0704030504030204" pitchFamily="34" charset="0"/>
              </a:rPr>
              <a:t>to claim ?</a:t>
            </a:r>
          </a:p>
          <a:p>
            <a:pPr lvl="2">
              <a:buFont typeface="Wingdings" panose="05000000000000000000" pitchFamily="2" charset="2"/>
              <a:buChar char="§"/>
            </a:pPr>
            <a:r>
              <a:rPr lang="en-US" altLang="en-US" sz="1800" dirty="0">
                <a:latin typeface="Arial Rounded MT Bold" panose="020F0704030504030204" pitchFamily="34" charset="0"/>
              </a:rPr>
              <a:t>Advantages &amp; Disadvantages </a:t>
            </a:r>
            <a:r>
              <a:rPr lang="en-US" altLang="en-US" sz="1800" dirty="0" smtClean="0">
                <a:latin typeface="Arial Rounded MT Bold" panose="020F0704030504030204" pitchFamily="34" charset="0"/>
              </a:rPr>
              <a:t>?</a:t>
            </a:r>
          </a:p>
          <a:p>
            <a:pPr lvl="2">
              <a:buFont typeface="Wingdings" panose="05000000000000000000" pitchFamily="2" charset="2"/>
              <a:buChar char="§"/>
            </a:pPr>
            <a:r>
              <a:rPr lang="en-US" altLang="en-US" sz="1800" dirty="0" smtClean="0">
                <a:latin typeface="Arial Rounded MT Bold" panose="020F0704030504030204" pitchFamily="34" charset="0"/>
              </a:rPr>
              <a:t>Question n Answers Session</a:t>
            </a:r>
            <a:endParaRPr lang="en-US" altLang="en-US" sz="1800" dirty="0">
              <a:latin typeface="Arial Rounded MT Bold" panose="020F0704030504030204" pitchFamily="34" charset="0"/>
            </a:endParaRPr>
          </a:p>
          <a:p>
            <a:pPr lvl="1">
              <a:buFont typeface="Wingdings" panose="05000000000000000000" pitchFamily="2" charset="2"/>
              <a:buChar char="ü"/>
            </a:pPr>
            <a:endParaRPr lang="en-US" altLang="en-US" sz="2000" dirty="0">
              <a:latin typeface="Arial Rounded MT Bold" panose="020F0704030504030204" pitchFamily="34" charset="0"/>
            </a:endParaRPr>
          </a:p>
          <a:p>
            <a:pPr lvl="1">
              <a:buFont typeface="Wingdings" panose="05000000000000000000" pitchFamily="2" charset="2"/>
              <a:buChar char="ü"/>
            </a:pPr>
            <a:endParaRPr lang="en-US" altLang="en-US" sz="2000" dirty="0">
              <a:latin typeface="Arial Rounded MT Bold" panose="020F0704030504030204" pitchFamily="34" charset="0"/>
            </a:endParaRPr>
          </a:p>
          <a:p>
            <a:pPr lvl="1">
              <a:buFont typeface="Wingdings" panose="05000000000000000000" pitchFamily="2" charset="2"/>
              <a:buChar char="ü"/>
            </a:pPr>
            <a:endParaRPr lang="en-US" altLang="en-US" sz="20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a:p>
            <a:pPr>
              <a:buFont typeface="Wingdings" panose="05000000000000000000" pitchFamily="2" charset="2"/>
              <a:buChar char="ü"/>
            </a:pPr>
            <a:endParaRPr lang="en-US" altLang="en-US" sz="2400" dirty="0">
              <a:latin typeface="Arial Rounded MT Bold" panose="020F0704030504030204" pitchFamily="34" charset="0"/>
            </a:endParaRPr>
          </a:p>
        </p:txBody>
      </p:sp>
      <p:sp>
        <p:nvSpPr>
          <p:cNvPr id="7170" name="Title 1"/>
          <p:cNvSpPr>
            <a:spLocks noGrp="1"/>
          </p:cNvSpPr>
          <p:nvPr>
            <p:ph type="title" idx="4294967295"/>
          </p:nvPr>
        </p:nvSpPr>
        <p:spPr>
          <a:xfrm>
            <a:off x="624681" y="163836"/>
            <a:ext cx="9591675" cy="784225"/>
          </a:xfrm>
        </p:spPr>
        <p:txBody>
          <a:bodyPr anchor="ctr">
            <a:noAutofit/>
          </a:bodyPr>
          <a:lstStyle/>
          <a:p>
            <a:pPr algn="l"/>
            <a:r>
              <a:rPr lang="en-US" altLang="en-US" sz="4752" b="1" u="sng" dirty="0">
                <a:solidFill>
                  <a:srgbClr val="8B0036"/>
                </a:solidFill>
                <a:latin typeface="Arial Rounded MT Bold" panose="020F0704030504030204" pitchFamily="34" charset="0"/>
              </a:rPr>
              <a:t>Outline</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7481" y="1524000"/>
            <a:ext cx="2668514" cy="2668514"/>
          </a:xfrm>
          <a:prstGeom prst="rect">
            <a:avLst/>
          </a:prstGeom>
        </p:spPr>
      </p:pic>
    </p:spTree>
    <p:custDataLst>
      <p:tags r:id="rId1"/>
    </p:custDataLst>
    <p:extLst>
      <p:ext uri="{BB962C8B-B14F-4D97-AF65-F5344CB8AC3E}">
        <p14:creationId xmlns:p14="http://schemas.microsoft.com/office/powerpoint/2010/main" val="3404678353"/>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E06C5E6-24BB-4F6A-AD5E-3F4246D148E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54560" y="1224976"/>
            <a:ext cx="5160643" cy="4802266"/>
          </a:xfrm>
          <a:prstGeom prst="rect">
            <a:avLst/>
          </a:prstGeom>
        </p:spPr>
      </p:pic>
      <p:sp>
        <p:nvSpPr>
          <p:cNvPr id="13" name="TextBox 12">
            <a:extLst>
              <a:ext uri="{FF2B5EF4-FFF2-40B4-BE49-F238E27FC236}">
                <a16:creationId xmlns:a16="http://schemas.microsoft.com/office/drawing/2014/main" id="{519C8BCF-3EC5-40F2-AEA3-6DDF6089C3DE}"/>
              </a:ext>
            </a:extLst>
          </p:cNvPr>
          <p:cNvSpPr txBox="1"/>
          <p:nvPr/>
        </p:nvSpPr>
        <p:spPr>
          <a:xfrm>
            <a:off x="1158081" y="504351"/>
            <a:ext cx="9753600" cy="769441"/>
          </a:xfrm>
          <a:prstGeom prst="rect">
            <a:avLst/>
          </a:prstGeom>
          <a:noFill/>
        </p:spPr>
        <p:txBody>
          <a:bodyPr wrap="square">
            <a:spAutoFit/>
          </a:bodyPr>
          <a:lstStyle/>
          <a:p>
            <a:pPr algn="ctr" fontAlgn="auto">
              <a:spcBef>
                <a:spcPts val="0"/>
              </a:spcBef>
              <a:spcAft>
                <a:spcPts val="0"/>
              </a:spcAft>
              <a:defRPr/>
            </a:pPr>
            <a:r>
              <a:rPr lang="en-US" sz="4400" b="1" dirty="0"/>
              <a:t> Group Healthcare Takaful Scheme</a:t>
            </a:r>
          </a:p>
        </p:txBody>
      </p:sp>
    </p:spTree>
    <p:extLst>
      <p:ext uri="{BB962C8B-B14F-4D97-AF65-F5344CB8AC3E}">
        <p14:creationId xmlns:p14="http://schemas.microsoft.com/office/powerpoint/2010/main" val="319421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2AFF5-B6C4-4E7D-902A-8C86CA649557}"/>
              </a:ext>
            </a:extLst>
          </p:cNvPr>
          <p:cNvPicPr>
            <a:picLocks noChangeAspect="1"/>
          </p:cNvPicPr>
          <p:nvPr/>
        </p:nvPicPr>
        <p:blipFill rotWithShape="1">
          <a:blip r:embed="rId2"/>
          <a:srcRect l="10937" r="10937"/>
          <a:stretch/>
        </p:blipFill>
        <p:spPr>
          <a:xfrm>
            <a:off x="319881" y="990600"/>
            <a:ext cx="3810000" cy="4267200"/>
          </a:xfrm>
          <a:prstGeom prst="rect">
            <a:avLst/>
          </a:prstGeom>
        </p:spPr>
      </p:pic>
      <p:sp>
        <p:nvSpPr>
          <p:cNvPr id="5" name="TextBox 4">
            <a:extLst>
              <a:ext uri="{FF2B5EF4-FFF2-40B4-BE49-F238E27FC236}">
                <a16:creationId xmlns:a16="http://schemas.microsoft.com/office/drawing/2014/main" id="{481755C1-5E5C-46A0-B09F-2B703B2EA898}"/>
              </a:ext>
            </a:extLst>
          </p:cNvPr>
          <p:cNvSpPr txBox="1"/>
          <p:nvPr/>
        </p:nvSpPr>
        <p:spPr>
          <a:xfrm>
            <a:off x="3901281" y="2362200"/>
            <a:ext cx="7360920" cy="2308324"/>
          </a:xfrm>
          <a:prstGeom prst="rect">
            <a:avLst/>
          </a:prstGeom>
          <a:noFill/>
        </p:spPr>
        <p:txBody>
          <a:bodyPr wrap="square">
            <a:spAutoFit/>
          </a:bodyPr>
          <a:lstStyle/>
          <a:p>
            <a:pPr algn="ctr">
              <a:defRPr/>
            </a:pPr>
            <a:r>
              <a:rPr lang="en-US" sz="4800" b="1" dirty="0" smtClean="0"/>
              <a:t>Details</a:t>
            </a:r>
            <a:endParaRPr lang="en-US" sz="4800" b="1" dirty="0"/>
          </a:p>
          <a:p>
            <a:pPr algn="ctr">
              <a:defRPr/>
            </a:pPr>
            <a:r>
              <a:rPr lang="en-US" sz="4800" b="1" dirty="0"/>
              <a:t>&amp;</a:t>
            </a:r>
          </a:p>
          <a:p>
            <a:pPr algn="ctr">
              <a:defRPr/>
            </a:pPr>
            <a:r>
              <a:rPr lang="en-US" sz="4800" b="1" dirty="0"/>
              <a:t>Benefit Criteria</a:t>
            </a:r>
          </a:p>
        </p:txBody>
      </p:sp>
    </p:spTree>
    <p:extLst>
      <p:ext uri="{BB962C8B-B14F-4D97-AF65-F5344CB8AC3E}">
        <p14:creationId xmlns:p14="http://schemas.microsoft.com/office/powerpoint/2010/main" val="489450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l" eaLnBrk="1" hangingPunct="1"/>
            <a:r>
              <a:rPr lang="en-US" sz="3600" b="1" dirty="0"/>
              <a:t>	Hospital Care Benefit:</a:t>
            </a:r>
          </a:p>
        </p:txBody>
      </p:sp>
      <p:sp>
        <p:nvSpPr>
          <p:cNvPr id="3" name="Content Placeholder 2"/>
          <p:cNvSpPr>
            <a:spLocks noGrp="1"/>
          </p:cNvSpPr>
          <p:nvPr>
            <p:ph idx="4294967295"/>
          </p:nvPr>
        </p:nvSpPr>
        <p:spPr>
          <a:xfrm>
            <a:off x="1044859" y="1104944"/>
            <a:ext cx="10247822" cy="4991056"/>
          </a:xfrm>
        </p:spPr>
        <p:txBody>
          <a:bodyPr rtlCol="0">
            <a:normAutofit lnSpcReduction="10000"/>
          </a:bodyPr>
          <a:lstStyle/>
          <a:p>
            <a:pPr marL="0" indent="0" algn="just" eaLnBrk="1" fontAlgn="auto" hangingPunct="1">
              <a:lnSpc>
                <a:spcPct val="90000"/>
              </a:lnSpc>
              <a:spcAft>
                <a:spcPts val="0"/>
              </a:spcAft>
              <a:buFont typeface="Arial" pitchFamily="34" charset="0"/>
              <a:buNone/>
              <a:defRPr/>
            </a:pPr>
            <a:r>
              <a:rPr lang="en-GB" sz="2600" b="1" dirty="0"/>
              <a:t>Covers expenses incurred during hospital stay up to the “</a:t>
            </a:r>
            <a:r>
              <a:rPr lang="en-GB" sz="2600" b="1" i="1" dirty="0"/>
              <a:t>Per Annum Limit</a:t>
            </a:r>
            <a:r>
              <a:rPr lang="en-GB" sz="2600" b="1" dirty="0"/>
              <a:t>” including the charges for :</a:t>
            </a:r>
          </a:p>
          <a:p>
            <a:pPr marL="0" indent="0" algn="just" eaLnBrk="1" fontAlgn="auto" hangingPunct="1">
              <a:lnSpc>
                <a:spcPct val="90000"/>
              </a:lnSpc>
              <a:spcAft>
                <a:spcPts val="0"/>
              </a:spcAft>
              <a:buFont typeface="Arial" pitchFamily="34" charset="0"/>
              <a:buNone/>
              <a:defRPr/>
            </a:pPr>
            <a:endParaRPr lang="en-GB" sz="2000" dirty="0"/>
          </a:p>
          <a:p>
            <a:pPr lvl="1" algn="just" eaLnBrk="1" fontAlgn="auto" hangingPunct="1">
              <a:lnSpc>
                <a:spcPct val="90000"/>
              </a:lnSpc>
              <a:spcAft>
                <a:spcPts val="0"/>
              </a:spcAft>
              <a:buFont typeface="Wingdings" panose="05000000000000000000" pitchFamily="2" charset="2"/>
              <a:buChar char="§"/>
              <a:defRPr/>
            </a:pPr>
            <a:r>
              <a:rPr lang="en-GB" sz="2000" dirty="0"/>
              <a:t> Room, Operation theatre and ICU</a:t>
            </a:r>
          </a:p>
          <a:p>
            <a:pPr lvl="1" algn="just" eaLnBrk="1" fontAlgn="auto" hangingPunct="1">
              <a:lnSpc>
                <a:spcPct val="90000"/>
              </a:lnSpc>
              <a:spcAft>
                <a:spcPts val="0"/>
              </a:spcAft>
              <a:buFont typeface="Wingdings" panose="05000000000000000000" pitchFamily="2" charset="2"/>
              <a:buChar char="§"/>
              <a:defRPr/>
            </a:pPr>
            <a:r>
              <a:rPr lang="en-GB" sz="2000" dirty="0"/>
              <a:t> Physician, Surgeon and Anaesthetist fee</a:t>
            </a:r>
          </a:p>
          <a:p>
            <a:pPr lvl="1" algn="just" eaLnBrk="1" fontAlgn="auto" hangingPunct="1">
              <a:lnSpc>
                <a:spcPct val="90000"/>
              </a:lnSpc>
              <a:spcAft>
                <a:spcPts val="0"/>
              </a:spcAft>
              <a:buFont typeface="Wingdings" panose="05000000000000000000" pitchFamily="2" charset="2"/>
              <a:buChar char="§"/>
              <a:defRPr/>
            </a:pPr>
            <a:r>
              <a:rPr lang="en-GB" sz="2000" dirty="0"/>
              <a:t> Diagnostic tests including MRI and CT Scan</a:t>
            </a:r>
          </a:p>
          <a:p>
            <a:pPr lvl="1" algn="just" eaLnBrk="1" fontAlgn="auto" hangingPunct="1">
              <a:lnSpc>
                <a:spcPct val="90000"/>
              </a:lnSpc>
              <a:spcAft>
                <a:spcPts val="0"/>
              </a:spcAft>
              <a:buFont typeface="Wingdings" panose="05000000000000000000" pitchFamily="2" charset="2"/>
              <a:buChar char="§"/>
              <a:defRPr/>
            </a:pPr>
            <a:r>
              <a:rPr lang="en-GB" sz="2000" dirty="0"/>
              <a:t> Medicines required during hospital stay</a:t>
            </a:r>
          </a:p>
          <a:p>
            <a:pPr lvl="1" algn="just" eaLnBrk="1" fontAlgn="auto" hangingPunct="1">
              <a:lnSpc>
                <a:spcPct val="90000"/>
              </a:lnSpc>
              <a:spcAft>
                <a:spcPts val="0"/>
              </a:spcAft>
              <a:buFont typeface="Wingdings" panose="05000000000000000000" pitchFamily="2" charset="2"/>
              <a:buChar char="§"/>
              <a:defRPr/>
            </a:pPr>
            <a:r>
              <a:rPr lang="en-GB" sz="2000" dirty="0"/>
              <a:t> Kidney Dialysis and Cancer treatment</a:t>
            </a:r>
          </a:p>
          <a:p>
            <a:pPr lvl="1" algn="just" eaLnBrk="1" fontAlgn="auto" hangingPunct="1">
              <a:lnSpc>
                <a:spcPct val="90000"/>
              </a:lnSpc>
              <a:spcAft>
                <a:spcPts val="0"/>
              </a:spcAft>
              <a:buFont typeface="Wingdings" panose="05000000000000000000" pitchFamily="2" charset="2"/>
              <a:buChar char="§"/>
              <a:defRPr/>
            </a:pPr>
            <a:r>
              <a:rPr lang="en-GB" sz="2000" dirty="0"/>
              <a:t> Organ transplant</a:t>
            </a:r>
          </a:p>
          <a:p>
            <a:pPr lvl="1" algn="just" eaLnBrk="1" fontAlgn="auto" hangingPunct="1">
              <a:lnSpc>
                <a:spcPct val="90000"/>
              </a:lnSpc>
              <a:spcAft>
                <a:spcPts val="0"/>
              </a:spcAft>
              <a:buFont typeface="Wingdings" panose="05000000000000000000" pitchFamily="2" charset="2"/>
              <a:buChar char="§"/>
              <a:defRPr/>
            </a:pPr>
            <a:r>
              <a:rPr lang="en-GB" sz="2000" dirty="0"/>
              <a:t> Endoscopy and Angioplasty</a:t>
            </a:r>
          </a:p>
          <a:p>
            <a:pPr lvl="1" algn="just" eaLnBrk="1" fontAlgn="auto" hangingPunct="1">
              <a:lnSpc>
                <a:spcPct val="90000"/>
              </a:lnSpc>
              <a:spcAft>
                <a:spcPts val="0"/>
              </a:spcAft>
              <a:buFont typeface="Wingdings" panose="05000000000000000000" pitchFamily="2" charset="2"/>
              <a:buChar char="§"/>
              <a:defRPr/>
            </a:pPr>
            <a:r>
              <a:rPr lang="en-GB" sz="2000" dirty="0"/>
              <a:t> Oxygen and blood supplies</a:t>
            </a:r>
          </a:p>
          <a:p>
            <a:pPr lvl="1" algn="just" eaLnBrk="1" fontAlgn="auto" hangingPunct="1">
              <a:lnSpc>
                <a:spcPct val="90000"/>
              </a:lnSpc>
              <a:spcAft>
                <a:spcPts val="0"/>
              </a:spcAft>
              <a:buFont typeface="Wingdings" panose="05000000000000000000" pitchFamily="2" charset="2"/>
              <a:buChar char="§"/>
              <a:defRPr/>
            </a:pPr>
            <a:endParaRPr lang="en-GB" sz="2000" dirty="0"/>
          </a:p>
          <a:p>
            <a:pPr marL="457200" lvl="1" indent="0" eaLnBrk="1" fontAlgn="auto" hangingPunct="1">
              <a:lnSpc>
                <a:spcPct val="90000"/>
              </a:lnSpc>
              <a:spcAft>
                <a:spcPts val="0"/>
              </a:spcAft>
              <a:buFont typeface="Arial" pitchFamily="34" charset="0"/>
              <a:buBlip>
                <a:blip r:embed="rId2"/>
              </a:buBlip>
              <a:defRPr/>
            </a:pPr>
            <a:r>
              <a:rPr lang="en-GB" sz="2000" dirty="0"/>
              <a:t> </a:t>
            </a:r>
            <a:r>
              <a:rPr lang="en-GB" sz="2000" b="1" dirty="0"/>
              <a:t>Pre-hospitalization </a:t>
            </a:r>
            <a:r>
              <a:rPr lang="en-GB" sz="2000" b="1" dirty="0" smtClean="0"/>
              <a:t>Expenses related to Admission-Comprehensive  </a:t>
            </a:r>
            <a:r>
              <a:rPr lang="en-GB" sz="2000" b="1" dirty="0"/>
              <a:t>(Up to 30 days)</a:t>
            </a:r>
          </a:p>
          <a:p>
            <a:pPr marL="457200" lvl="1" indent="0" eaLnBrk="1" fontAlgn="auto" hangingPunct="1">
              <a:lnSpc>
                <a:spcPct val="90000"/>
              </a:lnSpc>
              <a:spcAft>
                <a:spcPts val="0"/>
              </a:spcAft>
              <a:buNone/>
              <a:defRPr/>
            </a:pPr>
            <a:endParaRPr lang="en-GB" sz="2000" b="1" dirty="0"/>
          </a:p>
          <a:p>
            <a:pPr marL="457200" lvl="1" indent="0" eaLnBrk="1" fontAlgn="auto" hangingPunct="1">
              <a:lnSpc>
                <a:spcPct val="90000"/>
              </a:lnSpc>
              <a:spcAft>
                <a:spcPts val="0"/>
              </a:spcAft>
              <a:buFont typeface="Arial" pitchFamily="34" charset="0"/>
              <a:buBlip>
                <a:blip r:embed="rId2"/>
              </a:buBlip>
              <a:defRPr/>
            </a:pPr>
            <a:r>
              <a:rPr lang="en-GB" sz="2000" b="1" dirty="0"/>
              <a:t> Post-hospitalization </a:t>
            </a:r>
            <a:r>
              <a:rPr lang="en-GB" sz="2000" b="1" dirty="0" smtClean="0"/>
              <a:t>Follow-ups-Comprehensive </a:t>
            </a:r>
            <a:r>
              <a:rPr lang="en-GB" sz="2000" b="1" dirty="0"/>
              <a:t>(Up to 30 days)</a:t>
            </a:r>
          </a:p>
          <a:p>
            <a:pPr eaLnBrk="1" fontAlgn="auto" hangingPunct="1">
              <a:spcAft>
                <a:spcPts val="0"/>
              </a:spcAft>
              <a:defRPr/>
            </a:pPr>
            <a:endParaRPr lang="en-US" sz="2400" dirty="0"/>
          </a:p>
        </p:txBody>
      </p:sp>
      <p:pic>
        <p:nvPicPr>
          <p:cNvPr id="4" name="Picture 3">
            <a:extLst>
              <a:ext uri="{FF2B5EF4-FFF2-40B4-BE49-F238E27FC236}">
                <a16:creationId xmlns:a16="http://schemas.microsoft.com/office/drawing/2014/main" id="{F58223C0-214A-4DA2-B333-D62F08B45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3481" y="1752600"/>
            <a:ext cx="5342435" cy="2895600"/>
          </a:xfrm>
          <a:prstGeom prst="rect">
            <a:avLst/>
          </a:prstGeom>
          <a:ln>
            <a:noFill/>
          </a:ln>
          <a:effectLst>
            <a:softEdge rad="112500"/>
          </a:effectLst>
        </p:spPr>
      </p:pic>
    </p:spTree>
    <p:extLst>
      <p:ext uri="{BB962C8B-B14F-4D97-AF65-F5344CB8AC3E}">
        <p14:creationId xmlns:p14="http://schemas.microsoft.com/office/powerpoint/2010/main" val="3555039457"/>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7EDA2A-4D62-44BB-BE25-042A75F3AD7C}"/>
              </a:ext>
            </a:extLst>
          </p:cNvPr>
          <p:cNvSpPr>
            <a:spLocks noGrp="1"/>
          </p:cNvSpPr>
          <p:nvPr>
            <p:ph type="title"/>
          </p:nvPr>
        </p:nvSpPr>
        <p:spPr/>
        <p:txBody>
          <a:bodyPr/>
          <a:lstStyle/>
          <a:p>
            <a:pPr algn="l" eaLnBrk="1" hangingPunct="1"/>
            <a:r>
              <a:rPr lang="en-US" altLang="en-US" sz="3600" b="1" dirty="0"/>
              <a:t>	</a:t>
            </a:r>
            <a:r>
              <a:rPr lang="en-US" altLang="en-US" sz="3600" b="1" dirty="0" smtClean="0"/>
              <a:t>Benefits </a:t>
            </a:r>
            <a:r>
              <a:rPr lang="en-US" altLang="en-US" sz="2400" b="1" dirty="0" smtClean="0"/>
              <a:t>Conti---</a:t>
            </a:r>
            <a:endParaRPr lang="en-US" altLang="en-US" sz="2400" b="1" dirty="0"/>
          </a:p>
        </p:txBody>
      </p:sp>
      <p:sp>
        <p:nvSpPr>
          <p:cNvPr id="3" name="Content Placeholder 2">
            <a:extLst>
              <a:ext uri="{FF2B5EF4-FFF2-40B4-BE49-F238E27FC236}">
                <a16:creationId xmlns:a16="http://schemas.microsoft.com/office/drawing/2014/main" id="{30DBFC3D-3FCB-43A2-84F8-6B6CC1B0CC1D}"/>
              </a:ext>
            </a:extLst>
          </p:cNvPr>
          <p:cNvSpPr>
            <a:spLocks noGrp="1"/>
          </p:cNvSpPr>
          <p:nvPr>
            <p:ph idx="4294967295"/>
          </p:nvPr>
        </p:nvSpPr>
        <p:spPr>
          <a:xfrm>
            <a:off x="1158081" y="2057400"/>
            <a:ext cx="10911682" cy="3962400"/>
          </a:xfrm>
        </p:spPr>
        <p:txBody>
          <a:bodyPr numCol="2" rtlCol="0">
            <a:normAutofit/>
          </a:bodyPr>
          <a:lstStyle/>
          <a:p>
            <a:pPr>
              <a:buFont typeface="Wingdings" panose="05000000000000000000" pitchFamily="2" charset="2"/>
              <a:buChar char="§"/>
              <a:defRPr/>
            </a:pPr>
            <a:r>
              <a:rPr lang="en-US" sz="1800" dirty="0"/>
              <a:t>Cataract Surgery	</a:t>
            </a:r>
          </a:p>
          <a:p>
            <a:pPr>
              <a:buFont typeface="Wingdings" panose="05000000000000000000" pitchFamily="2" charset="2"/>
              <a:buChar char="§"/>
              <a:defRPr/>
            </a:pPr>
            <a:r>
              <a:rPr lang="en-US" sz="1800" dirty="0" smtClean="0"/>
              <a:t>Treatment </a:t>
            </a:r>
            <a:r>
              <a:rPr lang="en-US" sz="1800" dirty="0"/>
              <a:t>of Fractures and Lacerated wound</a:t>
            </a:r>
          </a:p>
          <a:p>
            <a:pPr>
              <a:buFont typeface="Wingdings" panose="05000000000000000000" pitchFamily="2" charset="2"/>
              <a:buChar char="§"/>
              <a:defRPr/>
            </a:pPr>
            <a:r>
              <a:rPr lang="en-US" sz="1800" dirty="0"/>
              <a:t>Piles surgery </a:t>
            </a:r>
          </a:p>
          <a:p>
            <a:pPr>
              <a:buFont typeface="Wingdings" panose="05000000000000000000" pitchFamily="2" charset="2"/>
              <a:buChar char="§"/>
              <a:defRPr/>
            </a:pPr>
            <a:r>
              <a:rPr lang="en-US" sz="1800" dirty="0"/>
              <a:t>Septoplasty</a:t>
            </a:r>
          </a:p>
          <a:p>
            <a:pPr>
              <a:buFont typeface="Wingdings" panose="05000000000000000000" pitchFamily="2" charset="2"/>
              <a:buChar char="§"/>
              <a:defRPr/>
            </a:pPr>
            <a:r>
              <a:rPr lang="en-US" sz="1800" dirty="0"/>
              <a:t>Circumcision</a:t>
            </a:r>
          </a:p>
          <a:p>
            <a:pPr>
              <a:buFont typeface="Wingdings" panose="05000000000000000000" pitchFamily="2" charset="2"/>
              <a:buChar char="§"/>
              <a:defRPr/>
            </a:pPr>
            <a:r>
              <a:rPr lang="en-US" sz="1800" dirty="0"/>
              <a:t>Fissure and Fistula Surgery</a:t>
            </a:r>
          </a:p>
          <a:p>
            <a:pPr>
              <a:buFont typeface="Wingdings" panose="05000000000000000000" pitchFamily="2" charset="2"/>
              <a:buChar char="§"/>
              <a:defRPr/>
            </a:pPr>
            <a:r>
              <a:rPr lang="en-US" sz="1800" dirty="0"/>
              <a:t>Sebaceous cyst excision</a:t>
            </a:r>
          </a:p>
          <a:p>
            <a:pPr>
              <a:buFont typeface="Wingdings" panose="05000000000000000000" pitchFamily="2" charset="2"/>
              <a:buChar char="§"/>
              <a:defRPr/>
            </a:pPr>
            <a:r>
              <a:rPr lang="en-US" sz="1800" dirty="0" smtClean="0"/>
              <a:t>Dilation </a:t>
            </a:r>
            <a:r>
              <a:rPr lang="en-US" sz="1800" dirty="0"/>
              <a:t>and Curettage </a:t>
            </a:r>
          </a:p>
          <a:p>
            <a:pPr>
              <a:buFont typeface="Wingdings" panose="05000000000000000000" pitchFamily="2" charset="2"/>
              <a:buChar char="§"/>
              <a:defRPr/>
            </a:pPr>
            <a:r>
              <a:rPr lang="en-US" sz="1800" dirty="0"/>
              <a:t>Partial Mastectomy</a:t>
            </a:r>
          </a:p>
          <a:p>
            <a:pPr>
              <a:buFont typeface="Wingdings" panose="05000000000000000000" pitchFamily="2" charset="2"/>
              <a:buChar char="§"/>
              <a:defRPr/>
            </a:pPr>
            <a:r>
              <a:rPr lang="en-US" sz="1800" dirty="0"/>
              <a:t>Varicose (cutting operation only)</a:t>
            </a:r>
          </a:p>
          <a:p>
            <a:pPr>
              <a:buFont typeface="Wingdings" panose="05000000000000000000" pitchFamily="2" charset="2"/>
              <a:buChar char="§"/>
              <a:defRPr/>
            </a:pPr>
            <a:r>
              <a:rPr lang="en-US" sz="1800" dirty="0"/>
              <a:t>Non Malignant Tumors/ Abscess</a:t>
            </a:r>
          </a:p>
          <a:p>
            <a:pPr>
              <a:buFont typeface="Wingdings" panose="05000000000000000000" pitchFamily="2" charset="2"/>
              <a:buChar char="§"/>
              <a:defRPr/>
            </a:pPr>
            <a:r>
              <a:rPr lang="en-US" sz="1800" dirty="0" smtClean="0"/>
              <a:t>Cholecystectomy</a:t>
            </a:r>
            <a:endParaRPr lang="en-US" sz="1800" b="1" dirty="0"/>
          </a:p>
        </p:txBody>
      </p:sp>
      <p:sp>
        <p:nvSpPr>
          <p:cNvPr id="44037" name="Rectangle 3">
            <a:extLst>
              <a:ext uri="{FF2B5EF4-FFF2-40B4-BE49-F238E27FC236}">
                <a16:creationId xmlns:a16="http://schemas.microsoft.com/office/drawing/2014/main" id="{66E60A07-4B77-4AB3-82E5-32E984AFFE23}"/>
              </a:ext>
            </a:extLst>
          </p:cNvPr>
          <p:cNvSpPr>
            <a:spLocks noChangeArrowheads="1"/>
          </p:cNvSpPr>
          <p:nvPr/>
        </p:nvSpPr>
        <p:spPr bwMode="auto">
          <a:xfrm>
            <a:off x="1044859" y="1072602"/>
            <a:ext cx="1047642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b="1" dirty="0"/>
              <a:t>Day </a:t>
            </a:r>
            <a:r>
              <a:rPr lang="en-US" altLang="en-US" sz="2000" b="1" dirty="0" smtClean="0"/>
              <a:t>Care Surgical Procedures—Terms and Conditions are Applicable</a:t>
            </a:r>
            <a:endParaRPr lang="en-US" altLang="en-US" sz="2000" b="1" dirty="0"/>
          </a:p>
          <a:p>
            <a:pPr eaLnBrk="1" hangingPunct="1"/>
            <a:endParaRPr lang="en-US" altLang="en-US" sz="2000" b="1" dirty="0"/>
          </a:p>
          <a:p>
            <a:pPr eaLnBrk="1" hangingPunct="1"/>
            <a:r>
              <a:rPr lang="en-US" altLang="en-US" dirty="0"/>
              <a:t>Following Day Care </a:t>
            </a:r>
            <a:r>
              <a:rPr lang="en-US" altLang="en-US" dirty="0" smtClean="0"/>
              <a:t>Surgeries</a:t>
            </a:r>
            <a:endParaRPr lang="en-US" altLang="en-US" dirty="0"/>
          </a:p>
        </p:txBody>
      </p:sp>
      <p:sp>
        <p:nvSpPr>
          <p:cNvPr id="7" name="TextBox 6">
            <a:extLst>
              <a:ext uri="{FF2B5EF4-FFF2-40B4-BE49-F238E27FC236}">
                <a16:creationId xmlns:a16="http://schemas.microsoft.com/office/drawing/2014/main" id="{2AE9B4A1-906C-454D-B3D4-BCD66A4475C1}"/>
              </a:ext>
            </a:extLst>
          </p:cNvPr>
          <p:cNvSpPr txBox="1"/>
          <p:nvPr/>
        </p:nvSpPr>
        <p:spPr>
          <a:xfrm>
            <a:off x="1044859" y="5754469"/>
            <a:ext cx="10247822" cy="646331"/>
          </a:xfrm>
          <a:prstGeom prst="rect">
            <a:avLst/>
          </a:prstGeom>
          <a:noFill/>
        </p:spPr>
        <p:txBody>
          <a:bodyPr wrap="square">
            <a:spAutoFit/>
          </a:bodyPr>
          <a:lstStyle/>
          <a:p>
            <a:pPr>
              <a:defRPr/>
            </a:pPr>
            <a:r>
              <a:rPr lang="en-US" sz="1800" b="1" dirty="0">
                <a:solidFill>
                  <a:schemeClr val="tx2"/>
                </a:solidFill>
              </a:rPr>
              <a:t>Note: These are few listed procedures (for illustration purpose) out of numerous treatments that Pak Qatar Family Takaful covers under Health Takaful Coverage</a:t>
            </a:r>
          </a:p>
        </p:txBody>
      </p:sp>
      <p:pic>
        <p:nvPicPr>
          <p:cNvPr id="8" name="Picture 7">
            <a:extLst>
              <a:ext uri="{FF2B5EF4-FFF2-40B4-BE49-F238E27FC236}">
                <a16:creationId xmlns:a16="http://schemas.microsoft.com/office/drawing/2014/main" id="{96E2DA48-03DD-4194-9E8A-71C8D3DB6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6904" y="1676400"/>
            <a:ext cx="17780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705502"/>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7EDA2A-4D62-44BB-BE25-042A75F3AD7C}"/>
              </a:ext>
            </a:extLst>
          </p:cNvPr>
          <p:cNvSpPr>
            <a:spLocks noGrp="1"/>
          </p:cNvSpPr>
          <p:nvPr>
            <p:ph type="title"/>
          </p:nvPr>
        </p:nvSpPr>
        <p:spPr/>
        <p:txBody>
          <a:bodyPr/>
          <a:lstStyle/>
          <a:p>
            <a:pPr algn="l" eaLnBrk="1" hangingPunct="1"/>
            <a:r>
              <a:rPr lang="en-US" altLang="en-US" sz="3600" b="1" dirty="0"/>
              <a:t>	</a:t>
            </a:r>
            <a:r>
              <a:rPr lang="en-US" altLang="en-US" sz="3600" b="1" dirty="0" smtClean="0"/>
              <a:t>Benefits Conti---</a:t>
            </a:r>
            <a:endParaRPr lang="en-US" altLang="en-US" sz="2400" b="1" dirty="0"/>
          </a:p>
        </p:txBody>
      </p:sp>
      <p:sp>
        <p:nvSpPr>
          <p:cNvPr id="3" name="Content Placeholder 2">
            <a:extLst>
              <a:ext uri="{FF2B5EF4-FFF2-40B4-BE49-F238E27FC236}">
                <a16:creationId xmlns:a16="http://schemas.microsoft.com/office/drawing/2014/main" id="{30DBFC3D-3FCB-43A2-84F8-6B6CC1B0CC1D}"/>
              </a:ext>
            </a:extLst>
          </p:cNvPr>
          <p:cNvSpPr>
            <a:spLocks noGrp="1"/>
          </p:cNvSpPr>
          <p:nvPr>
            <p:ph idx="4294967295"/>
          </p:nvPr>
        </p:nvSpPr>
        <p:spPr>
          <a:xfrm>
            <a:off x="1158081" y="2057400"/>
            <a:ext cx="10911682" cy="3962400"/>
          </a:xfrm>
        </p:spPr>
        <p:txBody>
          <a:bodyPr numCol="2" rtlCol="0">
            <a:normAutofit/>
          </a:bodyPr>
          <a:lstStyle/>
          <a:p>
            <a:pPr>
              <a:buFont typeface="Wingdings" panose="05000000000000000000" pitchFamily="2" charset="2"/>
              <a:buChar char="§"/>
              <a:defRPr/>
            </a:pPr>
            <a:r>
              <a:rPr lang="en-US" sz="2400" b="1" dirty="0" smtClean="0"/>
              <a:t>Chemotherapy</a:t>
            </a:r>
          </a:p>
          <a:p>
            <a:pPr>
              <a:buFont typeface="Wingdings" panose="05000000000000000000" pitchFamily="2" charset="2"/>
              <a:buChar char="§"/>
              <a:defRPr/>
            </a:pPr>
            <a:r>
              <a:rPr lang="en-US" sz="2400" b="1" dirty="0" smtClean="0"/>
              <a:t>Radiation Therapy</a:t>
            </a:r>
          </a:p>
          <a:p>
            <a:pPr>
              <a:buFont typeface="Wingdings" panose="05000000000000000000" pitchFamily="2" charset="2"/>
              <a:buChar char="§"/>
              <a:defRPr/>
            </a:pPr>
            <a:r>
              <a:rPr lang="en-US" sz="2400" b="1" dirty="0" smtClean="0"/>
              <a:t>Dialysis</a:t>
            </a:r>
          </a:p>
          <a:p>
            <a:pPr>
              <a:buFont typeface="Wingdings" panose="05000000000000000000" pitchFamily="2" charset="2"/>
              <a:buChar char="§"/>
              <a:defRPr/>
            </a:pPr>
            <a:r>
              <a:rPr lang="en-US" sz="2400" b="1" dirty="0" smtClean="0"/>
              <a:t>Lithotripsy</a:t>
            </a:r>
            <a:endParaRPr lang="en-US" sz="2400" dirty="0"/>
          </a:p>
          <a:p>
            <a:pPr>
              <a:buFont typeface="Wingdings" panose="05000000000000000000" pitchFamily="2" charset="2"/>
              <a:buChar char="§"/>
              <a:defRPr/>
            </a:pPr>
            <a:endParaRPr lang="en-US" sz="1800" dirty="0"/>
          </a:p>
          <a:p>
            <a:pPr>
              <a:buFont typeface="Wingdings" panose="05000000000000000000" pitchFamily="2" charset="2"/>
              <a:buChar char="§"/>
              <a:defRPr/>
            </a:pPr>
            <a:endParaRPr lang="en-US" sz="1800" b="1" dirty="0"/>
          </a:p>
        </p:txBody>
      </p:sp>
      <p:sp>
        <p:nvSpPr>
          <p:cNvPr id="44037" name="Rectangle 3">
            <a:extLst>
              <a:ext uri="{FF2B5EF4-FFF2-40B4-BE49-F238E27FC236}">
                <a16:creationId xmlns:a16="http://schemas.microsoft.com/office/drawing/2014/main" id="{66E60A07-4B77-4AB3-82E5-32E984AFFE23}"/>
              </a:ext>
            </a:extLst>
          </p:cNvPr>
          <p:cNvSpPr>
            <a:spLocks noChangeArrowheads="1"/>
          </p:cNvSpPr>
          <p:nvPr/>
        </p:nvSpPr>
        <p:spPr bwMode="auto">
          <a:xfrm>
            <a:off x="1044859" y="1072602"/>
            <a:ext cx="1047642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smtClean="0"/>
              <a:t>Day Care Non Surgical Procedures</a:t>
            </a:r>
            <a:endParaRPr lang="en-US" altLang="en-US" b="1" dirty="0"/>
          </a:p>
          <a:p>
            <a:pPr eaLnBrk="1" hangingPunct="1"/>
            <a:endParaRPr lang="en-US" altLang="en-US" b="1" dirty="0"/>
          </a:p>
          <a:p>
            <a:pPr eaLnBrk="1" hangingPunct="1"/>
            <a:r>
              <a:rPr lang="en-US" altLang="en-US" dirty="0" smtClean="0"/>
              <a:t>These are specially covered in this scheme</a:t>
            </a:r>
            <a:endParaRPr lang="en-US" altLang="en-US" dirty="0"/>
          </a:p>
        </p:txBody>
      </p:sp>
      <p:sp>
        <p:nvSpPr>
          <p:cNvPr id="7" name="TextBox 6">
            <a:extLst>
              <a:ext uri="{FF2B5EF4-FFF2-40B4-BE49-F238E27FC236}">
                <a16:creationId xmlns:a16="http://schemas.microsoft.com/office/drawing/2014/main" id="{2AE9B4A1-906C-454D-B3D4-BCD66A4475C1}"/>
              </a:ext>
            </a:extLst>
          </p:cNvPr>
          <p:cNvSpPr txBox="1"/>
          <p:nvPr/>
        </p:nvSpPr>
        <p:spPr>
          <a:xfrm>
            <a:off x="1011449" y="4876800"/>
            <a:ext cx="10247822" cy="646331"/>
          </a:xfrm>
          <a:prstGeom prst="rect">
            <a:avLst/>
          </a:prstGeom>
          <a:noFill/>
        </p:spPr>
        <p:txBody>
          <a:bodyPr wrap="square">
            <a:spAutoFit/>
          </a:bodyPr>
          <a:lstStyle/>
          <a:p>
            <a:pPr>
              <a:defRPr/>
            </a:pPr>
            <a:r>
              <a:rPr lang="en-US" sz="1800" b="1" dirty="0">
                <a:solidFill>
                  <a:schemeClr val="tx2"/>
                </a:solidFill>
              </a:rPr>
              <a:t>Note: These are few listed procedures (for illustration purpose) out of numerous treatments that Pak Qatar Family Takaful covers under Health Takaful Coverage</a:t>
            </a:r>
          </a:p>
        </p:txBody>
      </p:sp>
      <p:pic>
        <p:nvPicPr>
          <p:cNvPr id="8" name="Picture 7">
            <a:extLst>
              <a:ext uri="{FF2B5EF4-FFF2-40B4-BE49-F238E27FC236}">
                <a16:creationId xmlns:a16="http://schemas.microsoft.com/office/drawing/2014/main" id="{96E2DA48-03DD-4194-9E8A-71C8D3DB6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6904" y="1676400"/>
            <a:ext cx="17780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2951216"/>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7EDA2A-4D62-44BB-BE25-042A75F3AD7C}"/>
              </a:ext>
            </a:extLst>
          </p:cNvPr>
          <p:cNvSpPr>
            <a:spLocks noGrp="1"/>
          </p:cNvSpPr>
          <p:nvPr>
            <p:ph type="title"/>
          </p:nvPr>
        </p:nvSpPr>
        <p:spPr/>
        <p:txBody>
          <a:bodyPr/>
          <a:lstStyle/>
          <a:p>
            <a:pPr algn="l" eaLnBrk="1" hangingPunct="1"/>
            <a:r>
              <a:rPr lang="en-US" altLang="en-US" sz="3600" b="1" dirty="0"/>
              <a:t>	</a:t>
            </a:r>
            <a:r>
              <a:rPr lang="en-US" altLang="en-US" sz="3600" b="1" dirty="0" smtClean="0"/>
              <a:t>Benefits Conti--</a:t>
            </a:r>
            <a:endParaRPr lang="en-US" altLang="en-US" sz="2400" b="1" dirty="0"/>
          </a:p>
        </p:txBody>
      </p:sp>
      <p:sp>
        <p:nvSpPr>
          <p:cNvPr id="3" name="Content Placeholder 2">
            <a:extLst>
              <a:ext uri="{FF2B5EF4-FFF2-40B4-BE49-F238E27FC236}">
                <a16:creationId xmlns:a16="http://schemas.microsoft.com/office/drawing/2014/main" id="{30DBFC3D-3FCB-43A2-84F8-6B6CC1B0CC1D}"/>
              </a:ext>
            </a:extLst>
          </p:cNvPr>
          <p:cNvSpPr>
            <a:spLocks noGrp="1"/>
          </p:cNvSpPr>
          <p:nvPr>
            <p:ph idx="4294967295"/>
          </p:nvPr>
        </p:nvSpPr>
        <p:spPr>
          <a:xfrm>
            <a:off x="1158081" y="2057400"/>
            <a:ext cx="10911682" cy="3962400"/>
          </a:xfrm>
        </p:spPr>
        <p:txBody>
          <a:bodyPr numCol="2" rtlCol="0">
            <a:normAutofit/>
          </a:bodyPr>
          <a:lstStyle/>
          <a:p>
            <a:pPr>
              <a:buFont typeface="Wingdings" panose="05000000000000000000" pitchFamily="2" charset="2"/>
              <a:buChar char="§"/>
              <a:defRPr/>
            </a:pPr>
            <a:r>
              <a:rPr lang="en-US" sz="1800" b="1" dirty="0" smtClean="0"/>
              <a:t>MRI</a:t>
            </a:r>
            <a:r>
              <a:rPr lang="en-US" sz="1800" dirty="0" smtClean="0"/>
              <a:t>—Shoulder-Neck, Head and Brain</a:t>
            </a:r>
            <a:endParaRPr lang="en-US" sz="1800" dirty="0"/>
          </a:p>
          <a:p>
            <a:pPr>
              <a:buFont typeface="Wingdings" panose="05000000000000000000" pitchFamily="2" charset="2"/>
              <a:buChar char="§"/>
              <a:defRPr/>
            </a:pPr>
            <a:r>
              <a:rPr lang="en-US" sz="1800" b="1" dirty="0"/>
              <a:t>CT Scan   </a:t>
            </a:r>
            <a:r>
              <a:rPr lang="en-US" sz="1800" dirty="0" smtClean="0"/>
              <a:t>Shoulder-Neck, Head and Brain</a:t>
            </a:r>
            <a:endParaRPr lang="en-US" sz="1800" dirty="0"/>
          </a:p>
          <a:p>
            <a:pPr>
              <a:buFont typeface="Wingdings" panose="05000000000000000000" pitchFamily="2" charset="2"/>
              <a:buChar char="§"/>
              <a:defRPr/>
            </a:pPr>
            <a:r>
              <a:rPr lang="en-US" sz="1800" b="1" dirty="0" smtClean="0"/>
              <a:t>Endoscopy-It means to visualize inside of a cavity</a:t>
            </a:r>
            <a:endParaRPr lang="en-US" sz="1800" b="1" dirty="0"/>
          </a:p>
          <a:p>
            <a:pPr marL="0" indent="0">
              <a:buNone/>
              <a:defRPr/>
            </a:pPr>
            <a:r>
              <a:rPr lang="en-US" sz="2400" i="1" dirty="0" smtClean="0"/>
              <a:t>Different Types of Endoscopy</a:t>
            </a:r>
          </a:p>
          <a:p>
            <a:pPr marL="0" indent="0">
              <a:buNone/>
              <a:defRPr/>
            </a:pPr>
            <a:r>
              <a:rPr lang="en-US" sz="1800" b="1" dirty="0" smtClean="0"/>
              <a:t>Gastroscopy</a:t>
            </a:r>
            <a:r>
              <a:rPr lang="en-US" sz="1800" dirty="0" smtClean="0"/>
              <a:t>---Inspection of our Stomach</a:t>
            </a:r>
          </a:p>
          <a:p>
            <a:pPr marL="0" indent="0">
              <a:buNone/>
              <a:defRPr/>
            </a:pPr>
            <a:r>
              <a:rPr lang="en-US" sz="1800" b="1" dirty="0" smtClean="0"/>
              <a:t>Bronchoscopy</a:t>
            </a:r>
            <a:r>
              <a:rPr lang="en-US" sz="1800" dirty="0" smtClean="0"/>
              <a:t>-Inspection of our Lungs Cavity</a:t>
            </a:r>
          </a:p>
          <a:p>
            <a:pPr marL="0" indent="0">
              <a:buNone/>
              <a:defRPr/>
            </a:pPr>
            <a:r>
              <a:rPr lang="en-US" sz="1800" b="1" dirty="0" smtClean="0"/>
              <a:t>Cystoscopy</a:t>
            </a:r>
            <a:r>
              <a:rPr lang="en-US" sz="1800" dirty="0" smtClean="0"/>
              <a:t>—Inspection of Urinary Bladder</a:t>
            </a:r>
          </a:p>
          <a:p>
            <a:pPr marL="0" indent="0">
              <a:buNone/>
              <a:defRPr/>
            </a:pPr>
            <a:r>
              <a:rPr lang="en-US" sz="1800" b="1" dirty="0" smtClean="0"/>
              <a:t>Colonoscopy</a:t>
            </a:r>
            <a:r>
              <a:rPr lang="en-US" sz="1800" dirty="0" smtClean="0"/>
              <a:t>—Inspection of Intestines</a:t>
            </a:r>
          </a:p>
          <a:p>
            <a:pPr marL="0" indent="0">
              <a:buNone/>
              <a:defRPr/>
            </a:pPr>
            <a:r>
              <a:rPr lang="en-US" sz="1800" b="1" dirty="0" smtClean="0"/>
              <a:t>Duodenoscopy</a:t>
            </a:r>
            <a:r>
              <a:rPr lang="en-US" sz="1800" dirty="0" smtClean="0"/>
              <a:t>-Inspection of Duodenum</a:t>
            </a:r>
          </a:p>
          <a:p>
            <a:pPr marL="0" indent="0">
              <a:buNone/>
              <a:defRPr/>
            </a:pPr>
            <a:r>
              <a:rPr lang="en-US" sz="1800" b="1" dirty="0" smtClean="0"/>
              <a:t>Esophagostomy</a:t>
            </a:r>
            <a:r>
              <a:rPr lang="en-US" sz="1800" dirty="0" smtClean="0"/>
              <a:t>-Inspection of Esophagus</a:t>
            </a:r>
          </a:p>
          <a:p>
            <a:pPr marL="0" indent="0">
              <a:buNone/>
              <a:defRPr/>
            </a:pPr>
            <a:r>
              <a:rPr lang="en-US" sz="1800" b="1" dirty="0" smtClean="0"/>
              <a:t>Hysteroscopy</a:t>
            </a:r>
            <a:r>
              <a:rPr lang="en-US" sz="1800" dirty="0" smtClean="0"/>
              <a:t>-Other than Infertility</a:t>
            </a:r>
            <a:endParaRPr lang="en-US" sz="1800" dirty="0"/>
          </a:p>
          <a:p>
            <a:pPr>
              <a:buFont typeface="Wingdings" panose="05000000000000000000" pitchFamily="2" charset="2"/>
              <a:buChar char="§"/>
              <a:defRPr/>
            </a:pPr>
            <a:endParaRPr lang="en-US" sz="1800" dirty="0"/>
          </a:p>
          <a:p>
            <a:pPr>
              <a:buFont typeface="Wingdings" panose="05000000000000000000" pitchFamily="2" charset="2"/>
              <a:buChar char="§"/>
              <a:defRPr/>
            </a:pPr>
            <a:endParaRPr lang="en-US" sz="1800" b="1" dirty="0"/>
          </a:p>
        </p:txBody>
      </p:sp>
      <p:sp>
        <p:nvSpPr>
          <p:cNvPr id="44037" name="Rectangle 3">
            <a:extLst>
              <a:ext uri="{FF2B5EF4-FFF2-40B4-BE49-F238E27FC236}">
                <a16:creationId xmlns:a16="http://schemas.microsoft.com/office/drawing/2014/main" id="{66E60A07-4B77-4AB3-82E5-32E984AFFE23}"/>
              </a:ext>
            </a:extLst>
          </p:cNvPr>
          <p:cNvSpPr>
            <a:spLocks noChangeArrowheads="1"/>
          </p:cNvSpPr>
          <p:nvPr/>
        </p:nvSpPr>
        <p:spPr bwMode="auto">
          <a:xfrm>
            <a:off x="1044859" y="1072602"/>
            <a:ext cx="1047642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smtClean="0"/>
              <a:t>Specialized Tests—Terms and Conditions are Applicable</a:t>
            </a:r>
            <a:endParaRPr lang="en-US" altLang="en-US" b="1" dirty="0"/>
          </a:p>
          <a:p>
            <a:pPr eaLnBrk="1" hangingPunct="1"/>
            <a:endParaRPr lang="en-US" altLang="en-US" b="1" dirty="0"/>
          </a:p>
          <a:p>
            <a:pPr eaLnBrk="1" hangingPunct="1"/>
            <a:r>
              <a:rPr lang="en-US" altLang="en-US" dirty="0" smtClean="0"/>
              <a:t>Following are the examples</a:t>
            </a:r>
            <a:endParaRPr lang="en-US" altLang="en-US" dirty="0"/>
          </a:p>
        </p:txBody>
      </p:sp>
      <p:sp>
        <p:nvSpPr>
          <p:cNvPr id="7" name="TextBox 6">
            <a:extLst>
              <a:ext uri="{FF2B5EF4-FFF2-40B4-BE49-F238E27FC236}">
                <a16:creationId xmlns:a16="http://schemas.microsoft.com/office/drawing/2014/main" id="{2AE9B4A1-906C-454D-B3D4-BCD66A4475C1}"/>
              </a:ext>
            </a:extLst>
          </p:cNvPr>
          <p:cNvSpPr txBox="1"/>
          <p:nvPr/>
        </p:nvSpPr>
        <p:spPr>
          <a:xfrm>
            <a:off x="1044859" y="5754469"/>
            <a:ext cx="10247822" cy="646331"/>
          </a:xfrm>
          <a:prstGeom prst="rect">
            <a:avLst/>
          </a:prstGeom>
          <a:noFill/>
        </p:spPr>
        <p:txBody>
          <a:bodyPr wrap="square">
            <a:spAutoFit/>
          </a:bodyPr>
          <a:lstStyle/>
          <a:p>
            <a:pPr>
              <a:defRPr/>
            </a:pPr>
            <a:r>
              <a:rPr lang="en-US" sz="1800" b="1" dirty="0">
                <a:solidFill>
                  <a:schemeClr val="tx2"/>
                </a:solidFill>
              </a:rPr>
              <a:t>Note: These are few listed procedures (for illustration purpose) out of numerous treatments that Pak Qatar Family Takaful covers under Health Takaful Coverage</a:t>
            </a:r>
          </a:p>
        </p:txBody>
      </p:sp>
      <p:pic>
        <p:nvPicPr>
          <p:cNvPr id="8" name="Picture 7">
            <a:extLst>
              <a:ext uri="{FF2B5EF4-FFF2-40B4-BE49-F238E27FC236}">
                <a16:creationId xmlns:a16="http://schemas.microsoft.com/office/drawing/2014/main" id="{96E2DA48-03DD-4194-9E8A-71C8D3DB6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6904" y="1676400"/>
            <a:ext cx="17780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6153958"/>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57EDA2A-4D62-44BB-BE25-042A75F3AD7C}"/>
              </a:ext>
            </a:extLst>
          </p:cNvPr>
          <p:cNvSpPr>
            <a:spLocks noGrp="1"/>
          </p:cNvSpPr>
          <p:nvPr>
            <p:ph type="title"/>
          </p:nvPr>
        </p:nvSpPr>
        <p:spPr/>
        <p:txBody>
          <a:bodyPr/>
          <a:lstStyle/>
          <a:p>
            <a:pPr algn="l" eaLnBrk="1" hangingPunct="1"/>
            <a:r>
              <a:rPr lang="en-US" altLang="en-US" sz="3600" b="1" dirty="0"/>
              <a:t>	</a:t>
            </a:r>
            <a:r>
              <a:rPr lang="en-US" altLang="en-US" sz="3600" b="1" dirty="0" smtClean="0"/>
              <a:t>Benefits Conti--</a:t>
            </a:r>
            <a:endParaRPr lang="en-US" altLang="en-US" sz="2400" b="1" dirty="0"/>
          </a:p>
        </p:txBody>
      </p:sp>
      <p:sp>
        <p:nvSpPr>
          <p:cNvPr id="3" name="Content Placeholder 2">
            <a:extLst>
              <a:ext uri="{FF2B5EF4-FFF2-40B4-BE49-F238E27FC236}">
                <a16:creationId xmlns:a16="http://schemas.microsoft.com/office/drawing/2014/main" id="{30DBFC3D-3FCB-43A2-84F8-6B6CC1B0CC1D}"/>
              </a:ext>
            </a:extLst>
          </p:cNvPr>
          <p:cNvSpPr>
            <a:spLocks noGrp="1"/>
          </p:cNvSpPr>
          <p:nvPr>
            <p:ph idx="4294967295"/>
          </p:nvPr>
        </p:nvSpPr>
        <p:spPr>
          <a:xfrm>
            <a:off x="1158081" y="1534267"/>
            <a:ext cx="10911682" cy="3418733"/>
          </a:xfrm>
        </p:spPr>
        <p:txBody>
          <a:bodyPr numCol="2" rtlCol="0">
            <a:normAutofit/>
          </a:bodyPr>
          <a:lstStyle/>
          <a:p>
            <a:pPr>
              <a:buFont typeface="Wingdings" panose="05000000000000000000" pitchFamily="2" charset="2"/>
              <a:buChar char="§"/>
              <a:defRPr/>
            </a:pPr>
            <a:r>
              <a:rPr lang="en-US" sz="1800" b="1" dirty="0" smtClean="0"/>
              <a:t>Medical Emergency</a:t>
            </a:r>
            <a:endParaRPr lang="en-US" sz="2400" i="1" dirty="0" smtClean="0"/>
          </a:p>
          <a:p>
            <a:pPr>
              <a:buFont typeface="Wingdings" panose="05000000000000000000" pitchFamily="2" charset="2"/>
              <a:buChar char="ü"/>
              <a:defRPr/>
            </a:pPr>
            <a:r>
              <a:rPr lang="en-US" sz="1800" dirty="0" smtClean="0"/>
              <a:t>Severe Chest Pain</a:t>
            </a:r>
          </a:p>
          <a:p>
            <a:pPr>
              <a:buFont typeface="Wingdings" panose="05000000000000000000" pitchFamily="2" charset="2"/>
              <a:buChar char="ü"/>
              <a:defRPr/>
            </a:pPr>
            <a:r>
              <a:rPr lang="en-US" sz="1800" dirty="0" smtClean="0"/>
              <a:t>High Grade Fever</a:t>
            </a:r>
          </a:p>
          <a:p>
            <a:pPr>
              <a:buFont typeface="Wingdings" panose="05000000000000000000" pitchFamily="2" charset="2"/>
              <a:buChar char="ü"/>
              <a:defRPr/>
            </a:pPr>
            <a:r>
              <a:rPr lang="en-US" sz="1800" dirty="0" smtClean="0"/>
              <a:t>Heat Stroke</a:t>
            </a:r>
          </a:p>
          <a:p>
            <a:pPr>
              <a:buFont typeface="Wingdings" panose="05000000000000000000" pitchFamily="2" charset="2"/>
              <a:buChar char="ü"/>
              <a:defRPr/>
            </a:pPr>
            <a:r>
              <a:rPr lang="en-US" sz="1800" dirty="0" smtClean="0"/>
              <a:t>Repeated vomiting leading to Dehydration</a:t>
            </a:r>
          </a:p>
          <a:p>
            <a:pPr>
              <a:buFont typeface="Wingdings" panose="05000000000000000000" pitchFamily="2" charset="2"/>
              <a:buChar char="ü"/>
              <a:defRPr/>
            </a:pPr>
            <a:r>
              <a:rPr lang="en-US" sz="1800" dirty="0" smtClean="0"/>
              <a:t>Renal Pain </a:t>
            </a:r>
            <a:endParaRPr lang="en-US" sz="1800" dirty="0"/>
          </a:p>
          <a:p>
            <a:pPr>
              <a:buFont typeface="Wingdings" panose="05000000000000000000" pitchFamily="2" charset="2"/>
              <a:buChar char="§"/>
              <a:defRPr/>
            </a:pPr>
            <a:r>
              <a:rPr lang="en-US" sz="1800" b="1" dirty="0" smtClean="0"/>
              <a:t>Accidental Emergency</a:t>
            </a:r>
          </a:p>
          <a:p>
            <a:pPr>
              <a:buFont typeface="Wingdings" panose="05000000000000000000" pitchFamily="2" charset="2"/>
              <a:buChar char="ü"/>
              <a:defRPr/>
            </a:pPr>
            <a:r>
              <a:rPr lang="en-US" sz="1800" dirty="0" smtClean="0"/>
              <a:t>History of falls from Stairs</a:t>
            </a:r>
          </a:p>
          <a:p>
            <a:pPr>
              <a:buFont typeface="Wingdings" panose="05000000000000000000" pitchFamily="2" charset="2"/>
              <a:buChar char="ü"/>
              <a:defRPr/>
            </a:pPr>
            <a:r>
              <a:rPr lang="en-US" sz="1800" dirty="0" smtClean="0"/>
              <a:t>Road Traffic Accident</a:t>
            </a:r>
          </a:p>
          <a:p>
            <a:pPr>
              <a:buFont typeface="Wingdings" panose="05000000000000000000" pitchFamily="2" charset="2"/>
              <a:buChar char="ü"/>
              <a:defRPr/>
            </a:pPr>
            <a:r>
              <a:rPr lang="en-US" sz="1800" dirty="0" smtClean="0"/>
              <a:t>Ingestion of Foreign Body etc.</a:t>
            </a:r>
            <a:endParaRPr lang="en-US" sz="1800" dirty="0"/>
          </a:p>
        </p:txBody>
      </p:sp>
      <p:sp>
        <p:nvSpPr>
          <p:cNvPr id="44037" name="Rectangle 3">
            <a:extLst>
              <a:ext uri="{FF2B5EF4-FFF2-40B4-BE49-F238E27FC236}">
                <a16:creationId xmlns:a16="http://schemas.microsoft.com/office/drawing/2014/main" id="{66E60A07-4B77-4AB3-82E5-32E984AFFE23}"/>
              </a:ext>
            </a:extLst>
          </p:cNvPr>
          <p:cNvSpPr>
            <a:spLocks noChangeArrowheads="1"/>
          </p:cNvSpPr>
          <p:nvPr/>
        </p:nvSpPr>
        <p:spPr bwMode="auto">
          <a:xfrm>
            <a:off x="1044859" y="1072602"/>
            <a:ext cx="1047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smtClean="0"/>
              <a:t>Short Stay Emergency Treatment.</a:t>
            </a:r>
            <a:endParaRPr lang="en-US" altLang="en-US" sz="2400" dirty="0"/>
          </a:p>
        </p:txBody>
      </p:sp>
      <p:sp>
        <p:nvSpPr>
          <p:cNvPr id="7" name="TextBox 6">
            <a:extLst>
              <a:ext uri="{FF2B5EF4-FFF2-40B4-BE49-F238E27FC236}">
                <a16:creationId xmlns:a16="http://schemas.microsoft.com/office/drawing/2014/main" id="{2AE9B4A1-906C-454D-B3D4-BCD66A4475C1}"/>
              </a:ext>
            </a:extLst>
          </p:cNvPr>
          <p:cNvSpPr txBox="1"/>
          <p:nvPr/>
        </p:nvSpPr>
        <p:spPr>
          <a:xfrm>
            <a:off x="1044859" y="5257800"/>
            <a:ext cx="10247822" cy="646331"/>
          </a:xfrm>
          <a:prstGeom prst="rect">
            <a:avLst/>
          </a:prstGeom>
          <a:noFill/>
        </p:spPr>
        <p:txBody>
          <a:bodyPr wrap="square">
            <a:spAutoFit/>
          </a:bodyPr>
          <a:lstStyle/>
          <a:p>
            <a:pPr>
              <a:defRPr/>
            </a:pPr>
            <a:r>
              <a:rPr lang="en-US" sz="1800" b="1" dirty="0">
                <a:solidFill>
                  <a:schemeClr val="tx2"/>
                </a:solidFill>
              </a:rPr>
              <a:t>Note: </a:t>
            </a:r>
            <a:r>
              <a:rPr lang="en-US" sz="1800" b="1" dirty="0" smtClean="0">
                <a:solidFill>
                  <a:schemeClr val="tx2"/>
                </a:solidFill>
              </a:rPr>
              <a:t>Mode of provision is mainly via Credit, but if cash is paid due to Hospital Policy, then same can be reimbursed from Pak-Qatar.</a:t>
            </a:r>
            <a:endParaRPr lang="en-US" sz="1800" b="1" dirty="0">
              <a:solidFill>
                <a:schemeClr val="tx2"/>
              </a:solidFill>
            </a:endParaRPr>
          </a:p>
        </p:txBody>
      </p:sp>
      <p:pic>
        <p:nvPicPr>
          <p:cNvPr id="8" name="Picture 7">
            <a:extLst>
              <a:ext uri="{FF2B5EF4-FFF2-40B4-BE49-F238E27FC236}">
                <a16:creationId xmlns:a16="http://schemas.microsoft.com/office/drawing/2014/main" id="{96E2DA48-03DD-4194-9E8A-71C8D3DB6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6904" y="1676400"/>
            <a:ext cx="17780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331856"/>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l" eaLnBrk="1" hangingPunct="1"/>
            <a:r>
              <a:rPr lang="en-US" sz="3600" b="1" dirty="0"/>
              <a:t>	Unique Benefits</a:t>
            </a:r>
          </a:p>
        </p:txBody>
      </p:sp>
      <p:sp>
        <p:nvSpPr>
          <p:cNvPr id="3" name="Content Placeholder 2"/>
          <p:cNvSpPr>
            <a:spLocks noGrp="1"/>
          </p:cNvSpPr>
          <p:nvPr>
            <p:ph idx="4294967295"/>
          </p:nvPr>
        </p:nvSpPr>
        <p:spPr>
          <a:xfrm>
            <a:off x="1044860" y="1066800"/>
            <a:ext cx="10476422" cy="5105400"/>
          </a:xfrm>
        </p:spPr>
        <p:txBody>
          <a:bodyPr rtlCol="0">
            <a:normAutofit/>
          </a:bodyPr>
          <a:lstStyle/>
          <a:p>
            <a:pPr eaLnBrk="1" fontAlgn="auto" hangingPunct="1">
              <a:spcAft>
                <a:spcPts val="0"/>
              </a:spcAft>
              <a:buFont typeface="Wingdings" panose="05000000000000000000" pitchFamily="2" charset="2"/>
              <a:buChar char="§"/>
              <a:defRPr/>
            </a:pPr>
            <a:r>
              <a:rPr lang="en-US" sz="1800" b="1" i="1" dirty="0"/>
              <a:t>24 Hour Help Line</a:t>
            </a:r>
            <a:r>
              <a:rPr lang="en-US" sz="1800" dirty="0"/>
              <a:t> to provide counseling &amp; welfare to patients </a:t>
            </a:r>
            <a:r>
              <a:rPr lang="en-US" sz="1800" dirty="0" smtClean="0"/>
              <a:t>and </a:t>
            </a:r>
            <a:r>
              <a:rPr lang="en-US" sz="1800" dirty="0"/>
              <a:t>a Dedicated Relationship Manager to cater all the needs.</a:t>
            </a:r>
          </a:p>
          <a:p>
            <a:pPr eaLnBrk="1" fontAlgn="auto" hangingPunct="1">
              <a:spcAft>
                <a:spcPts val="0"/>
              </a:spcAft>
              <a:buFont typeface="Wingdings" panose="05000000000000000000" pitchFamily="2" charset="2"/>
              <a:buChar char="§"/>
              <a:defRPr/>
            </a:pPr>
            <a:endParaRPr lang="en-US" sz="1800" b="1" i="1" dirty="0"/>
          </a:p>
          <a:p>
            <a:pPr eaLnBrk="1" fontAlgn="auto" hangingPunct="1">
              <a:spcAft>
                <a:spcPts val="0"/>
              </a:spcAft>
              <a:buFont typeface="Wingdings" panose="05000000000000000000" pitchFamily="2" charset="2"/>
              <a:buChar char="§"/>
              <a:defRPr/>
            </a:pPr>
            <a:r>
              <a:rPr lang="en-US" sz="1800" b="1" i="1" dirty="0"/>
              <a:t>Specialized Tests</a:t>
            </a:r>
            <a:r>
              <a:rPr lang="en-US" sz="1800" dirty="0"/>
              <a:t> including </a:t>
            </a:r>
            <a:r>
              <a:rPr lang="en-US" sz="1800" u="sng" dirty="0"/>
              <a:t>MRI, CT Scan, Endoscopy,  Biopsy, Thallium Scan &amp; Angiographies</a:t>
            </a:r>
            <a:r>
              <a:rPr lang="en-US" sz="1800" dirty="0"/>
              <a:t> covered even as Out-Patient</a:t>
            </a:r>
          </a:p>
          <a:p>
            <a:pPr eaLnBrk="1" fontAlgn="auto" hangingPunct="1">
              <a:spcAft>
                <a:spcPts val="0"/>
              </a:spcAft>
              <a:buFont typeface="Wingdings" panose="05000000000000000000" pitchFamily="2" charset="2"/>
              <a:buChar char="§"/>
              <a:defRPr/>
            </a:pPr>
            <a:r>
              <a:rPr lang="en-US" sz="1800" dirty="0"/>
              <a:t>       if no hospitalization takes place (with prior approval)</a:t>
            </a:r>
          </a:p>
          <a:p>
            <a:pPr eaLnBrk="1" fontAlgn="auto" hangingPunct="1">
              <a:spcAft>
                <a:spcPts val="0"/>
              </a:spcAft>
              <a:buFont typeface="Wingdings" panose="05000000000000000000" pitchFamily="2" charset="2"/>
              <a:buChar char="§"/>
              <a:defRPr/>
            </a:pPr>
            <a:endParaRPr lang="en-US" sz="1800" dirty="0"/>
          </a:p>
          <a:p>
            <a:pPr eaLnBrk="1" fontAlgn="auto" hangingPunct="1">
              <a:spcAft>
                <a:spcPts val="0"/>
              </a:spcAft>
              <a:buFont typeface="Wingdings" panose="05000000000000000000" pitchFamily="2" charset="2"/>
              <a:buChar char="§"/>
              <a:defRPr/>
            </a:pPr>
            <a:r>
              <a:rPr lang="en-US" sz="1800" dirty="0"/>
              <a:t>More than </a:t>
            </a:r>
            <a:r>
              <a:rPr lang="en-US" sz="1800" b="1" i="1" dirty="0" smtClean="0">
                <a:solidFill>
                  <a:srgbClr val="0000FF"/>
                </a:solidFill>
              </a:rPr>
              <a:t>30</a:t>
            </a:r>
            <a:r>
              <a:rPr lang="en-US" sz="1800" b="1" i="1" dirty="0" smtClean="0">
                <a:solidFill>
                  <a:srgbClr val="0000FF"/>
                </a:solidFill>
                <a:hlinkClick r:id="rId2" action="ppaction://hlinkfile">
                  <a:extLst>
                    <a:ext uri="{A12FA001-AC4F-418D-AE19-62706E023703}">
                      <ahyp:hlinkClr xmlns:ahyp="http://schemas.microsoft.com/office/drawing/2018/hyperlinkcolor" xmlns="" val="tx"/>
                    </a:ext>
                  </a:extLst>
                </a:hlinkClick>
              </a:rPr>
              <a:t>0</a:t>
            </a:r>
            <a:r>
              <a:rPr lang="en-US" sz="1800" b="1" i="1" dirty="0">
                <a:solidFill>
                  <a:srgbClr val="0000FF"/>
                </a:solidFill>
                <a:hlinkClick r:id="rId2" action="ppaction://hlinkfile">
                  <a:extLst>
                    <a:ext uri="{A12FA001-AC4F-418D-AE19-62706E023703}">
                      <ahyp:hlinkClr xmlns:ahyp="http://schemas.microsoft.com/office/drawing/2018/hyperlinkcolor" xmlns="" val="tx"/>
                    </a:ext>
                  </a:extLst>
                </a:hlinkClick>
              </a:rPr>
              <a:t>+ network hospitals</a:t>
            </a:r>
            <a:r>
              <a:rPr lang="en-US" sz="1800" dirty="0">
                <a:hlinkClick r:id="rId2" action="ppaction://hlinkfile">
                  <a:extLst>
                    <a:ext uri="{A12FA001-AC4F-418D-AE19-62706E023703}">
                      <ahyp:hlinkClr xmlns:ahyp="http://schemas.microsoft.com/office/drawing/2018/hyperlinkcolor" xmlns="" val="tx"/>
                    </a:ext>
                  </a:extLst>
                </a:hlinkClick>
              </a:rPr>
              <a:t> </a:t>
            </a:r>
            <a:r>
              <a:rPr lang="en-US" sz="1800" dirty="0"/>
              <a:t>for easy access country wide and more are being added to the Network</a:t>
            </a:r>
          </a:p>
          <a:p>
            <a:pPr eaLnBrk="1" fontAlgn="auto" hangingPunct="1">
              <a:lnSpc>
                <a:spcPct val="200000"/>
              </a:lnSpc>
              <a:spcAft>
                <a:spcPts val="0"/>
              </a:spcAft>
              <a:buFont typeface="Wingdings" panose="05000000000000000000" pitchFamily="2" charset="2"/>
              <a:buChar char="§"/>
              <a:defRPr/>
            </a:pPr>
            <a:r>
              <a:rPr lang="en-US" sz="1800" dirty="0"/>
              <a:t>Coverage of </a:t>
            </a:r>
            <a:r>
              <a:rPr lang="en-US" sz="1800" b="1" dirty="0"/>
              <a:t>Accidental</a:t>
            </a:r>
            <a:r>
              <a:rPr lang="en-US" sz="1800" dirty="0"/>
              <a:t> and </a:t>
            </a:r>
            <a:r>
              <a:rPr lang="en-US" sz="1800" b="1" dirty="0"/>
              <a:t>Non–Accidental Emergency </a:t>
            </a:r>
            <a:r>
              <a:rPr lang="en-US" sz="1800" dirty="0"/>
              <a:t>treatment</a:t>
            </a:r>
          </a:p>
          <a:p>
            <a:pPr eaLnBrk="1" fontAlgn="auto" hangingPunct="1">
              <a:lnSpc>
                <a:spcPct val="200000"/>
              </a:lnSpc>
              <a:spcAft>
                <a:spcPts val="0"/>
              </a:spcAft>
              <a:buFont typeface="Wingdings" panose="05000000000000000000" pitchFamily="2" charset="2"/>
              <a:buChar char="§"/>
              <a:defRPr/>
            </a:pPr>
            <a:r>
              <a:rPr lang="en-US" sz="1800" dirty="0" smtClean="0"/>
              <a:t>Non-Panel Expenses should be reasonable and customary.</a:t>
            </a:r>
            <a:endParaRPr lang="en-US" sz="1800" dirty="0"/>
          </a:p>
          <a:p>
            <a:pPr eaLnBrk="1" fontAlgn="auto" hangingPunct="1">
              <a:spcAft>
                <a:spcPts val="0"/>
              </a:spcAft>
              <a:buFont typeface="Wingdings" panose="05000000000000000000" pitchFamily="2" charset="2"/>
              <a:buChar char="§"/>
              <a:defRPr/>
            </a:pPr>
            <a:r>
              <a:rPr lang="en-US" sz="1800" dirty="0" smtClean="0"/>
              <a:t>Comprehensive </a:t>
            </a:r>
            <a:r>
              <a:rPr lang="en-US" sz="1800" dirty="0"/>
              <a:t>cover available for Pre &amp; Post Hospitalization.</a:t>
            </a:r>
          </a:p>
          <a:p>
            <a:pPr eaLnBrk="1" fontAlgn="auto" hangingPunct="1">
              <a:spcAft>
                <a:spcPts val="0"/>
              </a:spcAft>
              <a:buFont typeface="Wingdings" panose="05000000000000000000" pitchFamily="2" charset="2"/>
              <a:buChar char="§"/>
              <a:defRPr/>
            </a:pPr>
            <a:endParaRPr lang="en-US" sz="1600" dirty="0"/>
          </a:p>
          <a:p>
            <a:pPr eaLnBrk="1" fontAlgn="auto" hangingPunct="1">
              <a:spcAft>
                <a:spcPts val="0"/>
              </a:spcAft>
              <a:buFont typeface="Wingdings" panose="05000000000000000000" pitchFamily="2" charset="2"/>
              <a:buChar char="§"/>
              <a:defRPr/>
            </a:pPr>
            <a:endParaRPr lang="en-US" sz="2400" dirty="0"/>
          </a:p>
          <a:p>
            <a:pPr eaLnBrk="1" fontAlgn="auto" hangingPunct="1">
              <a:spcAft>
                <a:spcPts val="0"/>
              </a:spcAft>
              <a:buFont typeface="Wingdings" panose="05000000000000000000" pitchFamily="2" charset="2"/>
              <a:buChar char="§"/>
              <a:defRPr/>
            </a:pPr>
            <a:endParaRPr lang="en-US" sz="1800" dirty="0"/>
          </a:p>
          <a:p>
            <a:pPr algn="just" eaLnBrk="1" fontAlgn="auto" hangingPunct="1">
              <a:lnSpc>
                <a:spcPct val="90000"/>
              </a:lnSpc>
              <a:spcAft>
                <a:spcPts val="0"/>
              </a:spcAft>
              <a:buFont typeface="Wingdings" panose="05000000000000000000" pitchFamily="2" charset="2"/>
              <a:buChar char="§"/>
              <a:defRPr/>
            </a:pPr>
            <a:endParaRPr lang="en-GB" sz="1800" dirty="0"/>
          </a:p>
        </p:txBody>
      </p:sp>
    </p:spTree>
    <p:extLst>
      <p:ext uri="{BB962C8B-B14F-4D97-AF65-F5344CB8AC3E}">
        <p14:creationId xmlns:p14="http://schemas.microsoft.com/office/powerpoint/2010/main" val="3113901388"/>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A2A76F27-4A4D-48C9-8FC7-7792F3549ABD}"/>
              </a:ext>
            </a:extLst>
          </p:cNvPr>
          <p:cNvSpPr>
            <a:spLocks noGrp="1"/>
          </p:cNvSpPr>
          <p:nvPr>
            <p:ph type="title"/>
          </p:nvPr>
        </p:nvSpPr>
        <p:spPr/>
        <p:txBody>
          <a:bodyPr/>
          <a:lstStyle/>
          <a:p>
            <a:r>
              <a:rPr lang="en-US" altLang="en-US" sz="3200" b="1" dirty="0" smtClean="0"/>
              <a:t>Entitlement</a:t>
            </a:r>
            <a:endParaRPr lang="en-US" altLang="en-US" sz="2400" b="1" dirty="0"/>
          </a:p>
        </p:txBody>
      </p:sp>
      <p:graphicFrame>
        <p:nvGraphicFramePr>
          <p:cNvPr id="5" name="Content Placeholder 3">
            <a:extLst>
              <a:ext uri="{FF2B5EF4-FFF2-40B4-BE49-F238E27FC236}">
                <a16:creationId xmlns:a16="http://schemas.microsoft.com/office/drawing/2014/main" id="{0E9FE19E-23E2-44A8-B0B2-772E2715734C}"/>
              </a:ext>
            </a:extLst>
          </p:cNvPr>
          <p:cNvGraphicFramePr>
            <a:graphicFrameLocks noGrp="1"/>
          </p:cNvGraphicFramePr>
          <p:nvPr>
            <p:ph idx="4294967295"/>
            <p:extLst>
              <p:ext uri="{D42A27DB-BD31-4B8C-83A1-F6EECF244321}">
                <p14:modId xmlns:p14="http://schemas.microsoft.com/office/powerpoint/2010/main" val="618966685"/>
              </p:ext>
            </p:extLst>
          </p:nvPr>
        </p:nvGraphicFramePr>
        <p:xfrm>
          <a:off x="1183481" y="1066246"/>
          <a:ext cx="9271000" cy="5105954"/>
        </p:xfrm>
        <a:graphic>
          <a:graphicData uri="http://schemas.openxmlformats.org/drawingml/2006/table">
            <a:tbl>
              <a:tblPr firstRow="1" bandRow="1">
                <a:tableStyleId>{21E4AEA4-8DFA-4A89-87EB-49C32662AFE0}</a:tableStyleId>
              </a:tblPr>
              <a:tblGrid>
                <a:gridCol w="1854200">
                  <a:extLst>
                    <a:ext uri="{9D8B030D-6E8A-4147-A177-3AD203B41FA5}">
                      <a16:colId xmlns:a16="http://schemas.microsoft.com/office/drawing/2014/main" val="20000"/>
                    </a:ext>
                  </a:extLst>
                </a:gridCol>
                <a:gridCol w="1854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gridCol w="1854200">
                  <a:extLst>
                    <a:ext uri="{9D8B030D-6E8A-4147-A177-3AD203B41FA5}">
                      <a16:colId xmlns:a16="http://schemas.microsoft.com/office/drawing/2014/main" val="20003"/>
                    </a:ext>
                  </a:extLst>
                </a:gridCol>
                <a:gridCol w="1854200">
                  <a:extLst>
                    <a:ext uri="{9D8B030D-6E8A-4147-A177-3AD203B41FA5}">
                      <a16:colId xmlns:a16="http://schemas.microsoft.com/office/drawing/2014/main" val="20004"/>
                    </a:ext>
                  </a:extLst>
                </a:gridCol>
              </a:tblGrid>
              <a:tr h="568789">
                <a:tc>
                  <a:txBody>
                    <a:bodyPr/>
                    <a:lstStyle/>
                    <a:p>
                      <a:pPr algn="ctr" fontAlgn="b"/>
                      <a:r>
                        <a:rPr lang="en-US" sz="2000" b="1" i="0" u="none" strike="noStrike" dirty="0" smtClean="0">
                          <a:solidFill>
                            <a:schemeClr val="lt1"/>
                          </a:solidFill>
                          <a:latin typeface="+mn-lt"/>
                        </a:rPr>
                        <a:t>Benefit</a:t>
                      </a:r>
                      <a:endParaRPr lang="en-US" sz="2000" b="1" i="0" u="none" strike="noStrike" dirty="0">
                        <a:solidFill>
                          <a:srgbClr val="000000"/>
                        </a:solidFill>
                        <a:latin typeface="Times New Roman"/>
                      </a:endParaRPr>
                    </a:p>
                  </a:txBody>
                  <a:tcPr marL="9525" marR="9525" marT="9525" marB="0" anchor="ctr"/>
                </a:tc>
                <a:tc>
                  <a:txBody>
                    <a:bodyPr/>
                    <a:lstStyle/>
                    <a:p>
                      <a:pPr algn="ctr" fontAlgn="b"/>
                      <a:r>
                        <a:rPr lang="en-US" sz="2000" u="none" strike="noStrike" dirty="0" smtClean="0"/>
                        <a:t>Plan</a:t>
                      </a:r>
                      <a:r>
                        <a:rPr lang="en-US" sz="2000" u="none" strike="noStrike" baseline="0" dirty="0" smtClean="0"/>
                        <a:t> A</a:t>
                      </a:r>
                      <a:endParaRPr lang="en-US" sz="2000" b="1" i="0" u="none" strike="noStrike" dirty="0">
                        <a:solidFill>
                          <a:srgbClr val="000000"/>
                        </a:solidFill>
                        <a:latin typeface="Times New Roman"/>
                      </a:endParaRPr>
                    </a:p>
                  </a:txBody>
                  <a:tcPr marL="9525" marR="9525" marT="9525" marB="0" anchor="ctr"/>
                </a:tc>
                <a:tc>
                  <a:txBody>
                    <a:bodyPr/>
                    <a:lstStyle/>
                    <a:p>
                      <a:pPr algn="ctr" fontAlgn="b"/>
                      <a:r>
                        <a:rPr lang="en-US" sz="1800" b="1" i="0" u="none" strike="noStrike" dirty="0" smtClean="0">
                          <a:solidFill>
                            <a:schemeClr val="bg1"/>
                          </a:solidFill>
                          <a:latin typeface="Times New Roman"/>
                        </a:rPr>
                        <a:t>In case of Accidental Cases</a:t>
                      </a:r>
                      <a:endParaRPr lang="en-US" sz="1800" b="1" i="0" u="none" strike="noStrike" dirty="0">
                        <a:solidFill>
                          <a:schemeClr val="bg1"/>
                        </a:solidFill>
                        <a:latin typeface="Times New Roman"/>
                      </a:endParaRPr>
                    </a:p>
                  </a:txBody>
                  <a:tcPr marL="9525" marR="9525" marT="9525" marB="0" anchor="ctr"/>
                </a:tc>
                <a:tc>
                  <a:txBody>
                    <a:bodyPr/>
                    <a:lstStyle/>
                    <a:p>
                      <a:pPr algn="ctr" fontAlgn="b"/>
                      <a:endParaRPr lang="en-US" sz="2000" b="1" i="0" u="none" strike="noStrike" dirty="0">
                        <a:solidFill>
                          <a:schemeClr val="bg1"/>
                        </a:solidFill>
                        <a:latin typeface="Times New Roman"/>
                      </a:endParaRPr>
                    </a:p>
                  </a:txBody>
                  <a:tcPr marL="9525" marR="9525" marT="9525" marB="0" anchor="ctr"/>
                </a:tc>
                <a:tc>
                  <a:txBody>
                    <a:bodyPr/>
                    <a:lstStyle/>
                    <a:p>
                      <a:pPr algn="ctr" fontAlgn="b"/>
                      <a:endParaRPr lang="en-US" sz="2000" b="1" i="0" u="none" strike="noStrike" dirty="0">
                        <a:solidFill>
                          <a:schemeClr val="bg1"/>
                        </a:solidFill>
                        <a:latin typeface="Times New Roman"/>
                      </a:endParaRPr>
                    </a:p>
                  </a:txBody>
                  <a:tcPr marL="9525" marR="9525" marT="9525" marB="0" anchor="ctr"/>
                </a:tc>
                <a:extLst>
                  <a:ext uri="{0D108BD9-81ED-4DB2-BD59-A6C34878D82A}">
                    <a16:rowId xmlns:a16="http://schemas.microsoft.com/office/drawing/2014/main" val="10000"/>
                  </a:ext>
                </a:extLst>
              </a:tr>
              <a:tr h="595811">
                <a:tc>
                  <a:txBody>
                    <a:bodyPr/>
                    <a:lstStyle/>
                    <a:p>
                      <a:pPr algn="l" fontAlgn="ctr"/>
                      <a:r>
                        <a:rPr lang="en-US" sz="1600" b="1" u="none" strike="noStrike" dirty="0"/>
                        <a:t> </a:t>
                      </a:r>
                      <a:r>
                        <a:rPr lang="en-US" sz="1600" b="1" u="none" strike="noStrike" dirty="0" smtClean="0"/>
                        <a:t>Hospital</a:t>
                      </a:r>
                      <a:r>
                        <a:rPr lang="en-US" sz="1600" b="1" u="none" strike="noStrike" baseline="0" dirty="0" smtClean="0"/>
                        <a:t> Care Benefit</a:t>
                      </a:r>
                      <a:endParaRPr lang="en-US" sz="1600" b="1" i="0" u="none" strike="noStrike" dirty="0">
                        <a:solidFill>
                          <a:srgbClr val="000000"/>
                        </a:solidFill>
                        <a:latin typeface="Times New Roman"/>
                      </a:endParaRPr>
                    </a:p>
                  </a:txBody>
                  <a:tcPr marL="9525" marR="9525" marT="9525" marB="0" anchor="ctr"/>
                </a:tc>
                <a:tc>
                  <a:txBody>
                    <a:bodyPr/>
                    <a:lstStyle/>
                    <a:p>
                      <a:pPr algn="ctr" fontAlgn="ctr"/>
                      <a:r>
                        <a:rPr lang="en-US" sz="2000" b="1" i="0" u="none" strike="noStrike" dirty="0" smtClean="0">
                          <a:solidFill>
                            <a:srgbClr val="0070C0"/>
                          </a:solidFill>
                          <a:latin typeface="+mn-lt"/>
                        </a:rPr>
                        <a:t>250,000</a:t>
                      </a:r>
                      <a:endParaRPr lang="en-US" sz="2000" b="1" i="0" u="none" strike="noStrike" dirty="0">
                        <a:solidFill>
                          <a:srgbClr val="0070C0"/>
                        </a:solidFill>
                        <a:latin typeface="Times New Roman"/>
                      </a:endParaRPr>
                    </a:p>
                  </a:txBody>
                  <a:tcPr marL="9525" marR="9525" marT="9525" marB="0" anchor="ctr"/>
                </a:tc>
                <a:tc>
                  <a:txBody>
                    <a:bodyPr/>
                    <a:lstStyle/>
                    <a:p>
                      <a:pPr algn="ctr" fontAlgn="ctr"/>
                      <a:r>
                        <a:rPr lang="en-US" sz="2000" b="1" i="0" u="none" strike="noStrike" dirty="0" smtClean="0">
                          <a:solidFill>
                            <a:srgbClr val="0070C0"/>
                          </a:solidFill>
                          <a:latin typeface="Times New Roman"/>
                        </a:rPr>
                        <a:t>500,000</a:t>
                      </a:r>
                      <a:endParaRPr lang="en-US" sz="2000" b="1" i="0" u="none" strike="noStrike" dirty="0">
                        <a:solidFill>
                          <a:srgbClr val="0070C0"/>
                        </a:solidFill>
                        <a:latin typeface="Times New Roman"/>
                      </a:endParaRPr>
                    </a:p>
                  </a:txBody>
                  <a:tcPr marL="9525" marR="9525" marT="9525" marB="0" anchor="ctr"/>
                </a:tc>
                <a:tc>
                  <a:txBody>
                    <a:bodyPr/>
                    <a:lstStyle/>
                    <a:p>
                      <a:pPr algn="ctr" fontAlgn="ctr"/>
                      <a:endParaRPr lang="en-US" sz="2000" b="1" i="0" u="none" strike="noStrike" dirty="0">
                        <a:solidFill>
                          <a:srgbClr val="000000"/>
                        </a:solidFill>
                        <a:latin typeface="Times New Roman"/>
                      </a:endParaRPr>
                    </a:p>
                  </a:txBody>
                  <a:tcPr marL="9525" marR="9525" marT="9525" marB="0" anchor="ctr"/>
                </a:tc>
                <a:tc>
                  <a:txBody>
                    <a:bodyPr/>
                    <a:lstStyle/>
                    <a:p>
                      <a:pPr algn="ctr" fontAlgn="ctr"/>
                      <a:endParaRPr lang="en-US" sz="2000" b="1" i="0" u="none" strike="noStrike" dirty="0">
                        <a:solidFill>
                          <a:srgbClr val="0070C0"/>
                        </a:solidFill>
                        <a:latin typeface="Times New Roman"/>
                      </a:endParaRPr>
                    </a:p>
                  </a:txBody>
                  <a:tcPr marL="9525" marR="9525" marT="9525" marB="0" anchor="ctr"/>
                </a:tc>
                <a:extLst>
                  <a:ext uri="{0D108BD9-81ED-4DB2-BD59-A6C34878D82A}">
                    <a16:rowId xmlns:a16="http://schemas.microsoft.com/office/drawing/2014/main" val="10001"/>
                  </a:ext>
                </a:extLst>
              </a:tr>
              <a:tr h="283199">
                <a:tc>
                  <a:txBody>
                    <a:bodyPr/>
                    <a:lstStyle/>
                    <a:p>
                      <a:pPr algn="l" fontAlgn="b"/>
                      <a:r>
                        <a:rPr lang="en-US" sz="1600" b="1" i="0" u="none" strike="noStrike" dirty="0" smtClean="0">
                          <a:solidFill>
                            <a:srgbClr val="000000"/>
                          </a:solidFill>
                          <a:latin typeface="Times New Roman"/>
                        </a:rPr>
                        <a:t>Room and Board</a:t>
                      </a:r>
                      <a:endParaRPr lang="en-US" sz="1600" b="1" i="0" u="none" strike="noStrike" dirty="0">
                        <a:solidFill>
                          <a:srgbClr val="000000"/>
                        </a:solidFill>
                        <a:latin typeface="Times New Roman"/>
                      </a:endParaRPr>
                    </a:p>
                  </a:txBody>
                  <a:tcPr marL="9525" marR="9525" marT="9525" marB="0" anchor="b"/>
                </a:tc>
                <a:tc>
                  <a:txBody>
                    <a:bodyPr/>
                    <a:lstStyle/>
                    <a:p>
                      <a:pPr algn="ctr" fontAlgn="b"/>
                      <a:r>
                        <a:rPr lang="en-US" sz="2000" b="1" i="0" u="none" strike="noStrike" dirty="0" smtClean="0">
                          <a:solidFill>
                            <a:srgbClr val="0070C0"/>
                          </a:solidFill>
                          <a:latin typeface="Times New Roman"/>
                        </a:rPr>
                        <a:t>12,000</a:t>
                      </a:r>
                      <a:endParaRPr lang="en-US" sz="2000" b="1" i="0" u="none" strike="noStrike" dirty="0">
                        <a:solidFill>
                          <a:srgbClr val="0070C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70C0"/>
                        </a:solidFill>
                        <a:latin typeface="Times New Roman"/>
                      </a:endParaRPr>
                    </a:p>
                  </a:txBody>
                  <a:tcPr marL="9525" marR="9525" marT="9525" marB="0" anchor="b"/>
                </a:tc>
                <a:extLst>
                  <a:ext uri="{0D108BD9-81ED-4DB2-BD59-A6C34878D82A}">
                    <a16:rowId xmlns:a16="http://schemas.microsoft.com/office/drawing/2014/main" val="10002"/>
                  </a:ext>
                </a:extLst>
              </a:tr>
              <a:tr h="1211388">
                <a:tc>
                  <a:txBody>
                    <a:bodyPr/>
                    <a:lstStyle/>
                    <a:p>
                      <a:pPr algn="l" fontAlgn="b"/>
                      <a:r>
                        <a:rPr lang="en-US" sz="1600" b="1" i="0" u="none" strike="noStrike" dirty="0" smtClean="0">
                          <a:solidFill>
                            <a:srgbClr val="000000"/>
                          </a:solidFill>
                          <a:latin typeface="Times New Roman"/>
                        </a:rPr>
                        <a:t>Pre-Hospitalization</a:t>
                      </a:r>
                      <a:r>
                        <a:rPr lang="en-US" sz="1600" b="1" i="0" u="none" strike="noStrike" baseline="0" dirty="0" smtClean="0">
                          <a:solidFill>
                            <a:srgbClr val="000000"/>
                          </a:solidFill>
                          <a:latin typeface="Times New Roman"/>
                        </a:rPr>
                        <a:t> Charges up to 30 Days- Comprehensive</a:t>
                      </a:r>
                      <a:endParaRPr lang="en-US" sz="1600" b="1" i="0" u="none" strike="noStrike" dirty="0">
                        <a:solidFill>
                          <a:srgbClr val="000000"/>
                        </a:solidFill>
                        <a:latin typeface="Times New Roman"/>
                      </a:endParaRPr>
                    </a:p>
                  </a:txBody>
                  <a:tcPr marL="9525" marR="9525" marT="9525" marB="0" anchor="b"/>
                </a:tc>
                <a:tc>
                  <a:txBody>
                    <a:bodyPr/>
                    <a:lstStyle/>
                    <a:p>
                      <a:pPr algn="ctr" fontAlgn="b"/>
                      <a:r>
                        <a:rPr lang="en-US" sz="2000" b="1" i="0" u="none" strike="noStrike" dirty="0" smtClean="0">
                          <a:solidFill>
                            <a:srgbClr val="0070C0"/>
                          </a:solidFill>
                          <a:latin typeface="Times New Roman"/>
                        </a:rPr>
                        <a:t>Covered</a:t>
                      </a:r>
                      <a:endParaRPr lang="en-US" sz="2000" b="1" i="0" u="none" strike="noStrike" dirty="0">
                        <a:solidFill>
                          <a:srgbClr val="0070C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70C0"/>
                        </a:solidFill>
                        <a:latin typeface="Times New Roman"/>
                      </a:endParaRPr>
                    </a:p>
                  </a:txBody>
                  <a:tcPr marL="9525" marR="9525" marT="9525" marB="0" anchor="b"/>
                </a:tc>
                <a:extLst>
                  <a:ext uri="{0D108BD9-81ED-4DB2-BD59-A6C34878D82A}">
                    <a16:rowId xmlns:a16="http://schemas.microsoft.com/office/drawing/2014/main" val="10003"/>
                  </a:ext>
                </a:extLst>
              </a:tr>
              <a:tr h="1278063">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600" b="1" i="0" u="none" strike="noStrike" dirty="0" smtClean="0">
                          <a:solidFill>
                            <a:srgbClr val="000000"/>
                          </a:solidFill>
                          <a:latin typeface="Times New Roman"/>
                        </a:rPr>
                        <a:t>Post-Hospitalization</a:t>
                      </a:r>
                      <a:r>
                        <a:rPr lang="en-US" sz="1600" b="1" i="0" u="none" strike="noStrike" baseline="0" dirty="0" smtClean="0">
                          <a:solidFill>
                            <a:srgbClr val="000000"/>
                          </a:solidFill>
                          <a:latin typeface="Times New Roman"/>
                        </a:rPr>
                        <a:t> Charges up to 30 Days-Comprehensive</a:t>
                      </a:r>
                      <a:endParaRPr lang="en-US" sz="1600" b="1" i="0" u="none" strike="noStrike" dirty="0">
                        <a:solidFill>
                          <a:srgbClr val="000000"/>
                        </a:solidFill>
                        <a:latin typeface="Times New Roman"/>
                      </a:endParaRPr>
                    </a:p>
                  </a:txBody>
                  <a:tcPr marL="9525" marR="9525" marT="9525" marB="0" anchor="b"/>
                </a:tc>
                <a:tc>
                  <a:txBody>
                    <a:bodyPr/>
                    <a:lstStyle/>
                    <a:p>
                      <a:pPr algn="ctr" fontAlgn="b"/>
                      <a:r>
                        <a:rPr lang="en-US" sz="2000" b="1" i="0" u="none" strike="noStrike" dirty="0" smtClean="0">
                          <a:solidFill>
                            <a:srgbClr val="0070C0"/>
                          </a:solidFill>
                          <a:latin typeface="Times New Roman"/>
                        </a:rPr>
                        <a:t>Covered</a:t>
                      </a:r>
                      <a:endParaRPr lang="en-US" sz="2000" b="1" i="0" u="none" strike="noStrike" dirty="0">
                        <a:solidFill>
                          <a:srgbClr val="0070C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70C0"/>
                        </a:solidFill>
                        <a:latin typeface="Times New Roman"/>
                      </a:endParaRPr>
                    </a:p>
                  </a:txBody>
                  <a:tcPr marL="9525" marR="9525" marT="9525" marB="0" anchor="b"/>
                </a:tc>
                <a:extLst>
                  <a:ext uri="{0D108BD9-81ED-4DB2-BD59-A6C34878D82A}">
                    <a16:rowId xmlns:a16="http://schemas.microsoft.com/office/drawing/2014/main" val="10004"/>
                  </a:ext>
                </a:extLst>
              </a:tr>
              <a:tr h="568789">
                <a:tc>
                  <a:txBody>
                    <a:bodyPr/>
                    <a:lstStyle/>
                    <a:p>
                      <a:pPr algn="ctr" fontAlgn="b"/>
                      <a:r>
                        <a:rPr lang="en-US" sz="1800" b="1" i="0" u="none" strike="noStrike" dirty="0" smtClean="0">
                          <a:solidFill>
                            <a:srgbClr val="000000"/>
                          </a:solidFill>
                          <a:latin typeface="Times New Roman"/>
                        </a:rPr>
                        <a:t>Normal Delivery</a:t>
                      </a:r>
                      <a:endParaRPr lang="en-US" sz="1800" b="1" i="0" u="none" strike="noStrike" dirty="0">
                        <a:solidFill>
                          <a:srgbClr val="000000"/>
                        </a:solidFill>
                        <a:latin typeface="Times New Roman"/>
                      </a:endParaRPr>
                    </a:p>
                  </a:txBody>
                  <a:tcPr marL="9525" marR="9525" marT="9525" marB="0" anchor="b"/>
                </a:tc>
                <a:tc>
                  <a:txBody>
                    <a:bodyPr/>
                    <a:lstStyle/>
                    <a:p>
                      <a:pPr algn="ctr" fontAlgn="b"/>
                      <a:r>
                        <a:rPr lang="en-US" sz="2000" b="1" i="0" u="none" strike="noStrike" dirty="0" smtClean="0">
                          <a:solidFill>
                            <a:srgbClr val="0070C0"/>
                          </a:solidFill>
                          <a:latin typeface="Times New Roman"/>
                        </a:rPr>
                        <a:t>100,000</a:t>
                      </a:r>
                      <a:endParaRPr lang="en-US" sz="2000" b="1" i="0" u="none" strike="noStrike" dirty="0">
                        <a:solidFill>
                          <a:srgbClr val="0070C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70C0"/>
                        </a:solidFill>
                        <a:latin typeface="Times New Roman"/>
                      </a:endParaRPr>
                    </a:p>
                  </a:txBody>
                  <a:tcPr marL="9525" marR="9525" marT="9525" marB="0" anchor="b"/>
                </a:tc>
                <a:extLst>
                  <a:ext uri="{0D108BD9-81ED-4DB2-BD59-A6C34878D82A}">
                    <a16:rowId xmlns:a16="http://schemas.microsoft.com/office/drawing/2014/main" val="10005"/>
                  </a:ext>
                </a:extLst>
              </a:tr>
              <a:tr h="568789">
                <a:tc>
                  <a:txBody>
                    <a:bodyPr/>
                    <a:lstStyle/>
                    <a:p>
                      <a:pPr algn="ctr" fontAlgn="b"/>
                      <a:r>
                        <a:rPr lang="en-US" sz="1800" b="1" i="0" u="none" strike="noStrike" dirty="0" smtClean="0">
                          <a:solidFill>
                            <a:srgbClr val="000000"/>
                          </a:solidFill>
                          <a:latin typeface="Times New Roman"/>
                        </a:rPr>
                        <a:t>C-Section</a:t>
                      </a:r>
                      <a:endParaRPr lang="en-US" sz="1800" b="1" i="0" u="none" strike="noStrike" dirty="0">
                        <a:solidFill>
                          <a:srgbClr val="000000"/>
                        </a:solidFill>
                        <a:latin typeface="Times New Roman"/>
                      </a:endParaRPr>
                    </a:p>
                  </a:txBody>
                  <a:tcPr marL="9525" marR="9525" marT="9525" marB="0" anchor="b"/>
                </a:tc>
                <a:tc>
                  <a:txBody>
                    <a:bodyPr/>
                    <a:lstStyle/>
                    <a:p>
                      <a:pPr algn="ctr" fontAlgn="b"/>
                      <a:r>
                        <a:rPr lang="en-US" sz="2000" b="1" i="0" u="none" strike="noStrike" dirty="0" smtClean="0">
                          <a:solidFill>
                            <a:srgbClr val="0070C0"/>
                          </a:solidFill>
                          <a:latin typeface="Times New Roman"/>
                        </a:rPr>
                        <a:t>150,000</a:t>
                      </a:r>
                      <a:endParaRPr lang="en-US" sz="2000" b="1" i="0" u="none" strike="noStrike" dirty="0">
                        <a:solidFill>
                          <a:srgbClr val="0070C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tc>
                  <a:txBody>
                    <a:bodyPr/>
                    <a:lstStyle/>
                    <a:p>
                      <a:pPr algn="ctr" fontAlgn="b"/>
                      <a:endParaRPr lang="en-US" sz="2000" b="1" i="0" u="none" strike="noStrike" dirty="0">
                        <a:solidFill>
                          <a:srgbClr val="000000"/>
                        </a:solidFill>
                        <a:latin typeface="Times New Roman"/>
                      </a:endParaRPr>
                    </a:p>
                  </a:txBody>
                  <a:tcPr marL="9525" marR="9525" marT="9525" marB="0" anchor="b"/>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731F-41C2-4173-B6D5-1354A8AF01F9}"/>
              </a:ext>
            </a:extLst>
          </p:cNvPr>
          <p:cNvSpPr>
            <a:spLocks noGrp="1"/>
          </p:cNvSpPr>
          <p:nvPr>
            <p:ph type="title"/>
          </p:nvPr>
        </p:nvSpPr>
        <p:spPr/>
        <p:txBody>
          <a:bodyPr rtlCol="0">
            <a:normAutofit/>
          </a:bodyPr>
          <a:lstStyle/>
          <a:p>
            <a:pPr algn="l">
              <a:defRPr/>
            </a:pPr>
            <a:r>
              <a:rPr lang="en-US" sz="3600" b="1" dirty="0"/>
              <a:t>	</a:t>
            </a:r>
            <a:r>
              <a:rPr lang="en-US" sz="3600" b="1" dirty="0" smtClean="0"/>
              <a:t>Terms and Conditions</a:t>
            </a:r>
            <a:endParaRPr lang="en-US" sz="3600" b="1" dirty="0"/>
          </a:p>
        </p:txBody>
      </p:sp>
      <p:sp>
        <p:nvSpPr>
          <p:cNvPr id="3" name="Content Placeholder 2">
            <a:extLst>
              <a:ext uri="{FF2B5EF4-FFF2-40B4-BE49-F238E27FC236}">
                <a16:creationId xmlns:a16="http://schemas.microsoft.com/office/drawing/2014/main" id="{B60A476B-1D9D-4B96-891A-630BC92B14A2}"/>
              </a:ext>
            </a:extLst>
          </p:cNvPr>
          <p:cNvSpPr>
            <a:spLocks noGrp="1"/>
          </p:cNvSpPr>
          <p:nvPr>
            <p:ph idx="4294967295"/>
          </p:nvPr>
        </p:nvSpPr>
        <p:spPr>
          <a:xfrm>
            <a:off x="472281" y="990600"/>
            <a:ext cx="11201400" cy="4525963"/>
          </a:xfrm>
        </p:spPr>
        <p:txBody>
          <a:bodyPr rtlCol="0">
            <a:normAutofit/>
          </a:bodyPr>
          <a:lstStyle/>
          <a:p>
            <a:pPr marL="455613" indent="-455613">
              <a:lnSpc>
                <a:spcPct val="150000"/>
              </a:lnSpc>
              <a:spcBef>
                <a:spcPct val="30000"/>
              </a:spcBef>
              <a:buFont typeface="Calibri" pitchFamily="34" charset="0"/>
              <a:buChar char="•"/>
              <a:defRPr/>
            </a:pPr>
            <a:r>
              <a:rPr lang="en-GB" sz="2400" b="1" dirty="0" smtClean="0">
                <a:solidFill>
                  <a:srgbClr val="00B050"/>
                </a:solidFill>
              </a:rPr>
              <a:t>Pre-existing Conditions are covered up to 100%</a:t>
            </a:r>
          </a:p>
          <a:p>
            <a:pPr marL="455613" indent="-455613">
              <a:lnSpc>
                <a:spcPct val="150000"/>
              </a:lnSpc>
              <a:spcBef>
                <a:spcPct val="30000"/>
              </a:spcBef>
              <a:buFont typeface="Calibri" pitchFamily="34" charset="0"/>
              <a:buChar char="•"/>
              <a:defRPr/>
            </a:pPr>
            <a:r>
              <a:rPr lang="en-GB" sz="2400" b="1" dirty="0" smtClean="0">
                <a:solidFill>
                  <a:srgbClr val="00B050"/>
                </a:solidFill>
              </a:rPr>
              <a:t>Congenital (By Birth Defects) Illness are covered up to 100%</a:t>
            </a:r>
          </a:p>
          <a:p>
            <a:pPr marL="455613" indent="-455613">
              <a:lnSpc>
                <a:spcPct val="150000"/>
              </a:lnSpc>
              <a:spcBef>
                <a:spcPct val="30000"/>
              </a:spcBef>
              <a:buFont typeface="Calibri" pitchFamily="34" charset="0"/>
              <a:buChar char="•"/>
              <a:defRPr/>
            </a:pPr>
            <a:r>
              <a:rPr lang="en-GB" sz="2400" b="1" dirty="0" smtClean="0">
                <a:solidFill>
                  <a:srgbClr val="00B050"/>
                </a:solidFill>
              </a:rPr>
              <a:t>Hepatitis B &amp; C Treatment Cost are </a:t>
            </a:r>
            <a:r>
              <a:rPr lang="en-GB" sz="2400" b="1" dirty="0">
                <a:solidFill>
                  <a:srgbClr val="00B050"/>
                </a:solidFill>
              </a:rPr>
              <a:t>covered up to 100</a:t>
            </a:r>
            <a:r>
              <a:rPr lang="en-GB" sz="2400" b="1" dirty="0" smtClean="0">
                <a:solidFill>
                  <a:srgbClr val="00B050"/>
                </a:solidFill>
              </a:rPr>
              <a:t>%</a:t>
            </a:r>
          </a:p>
          <a:p>
            <a:pPr marL="455613" indent="-455613">
              <a:lnSpc>
                <a:spcPct val="150000"/>
              </a:lnSpc>
              <a:spcBef>
                <a:spcPct val="30000"/>
              </a:spcBef>
              <a:buFont typeface="Calibri" pitchFamily="34" charset="0"/>
              <a:buChar char="•"/>
              <a:defRPr/>
            </a:pPr>
            <a:r>
              <a:rPr lang="en-GB" sz="2400" b="1" dirty="0">
                <a:solidFill>
                  <a:srgbClr val="00B050"/>
                </a:solidFill>
              </a:rPr>
              <a:t>Pre Existing Maternities </a:t>
            </a:r>
            <a:r>
              <a:rPr lang="en-GB" sz="2400" b="1" dirty="0" smtClean="0">
                <a:solidFill>
                  <a:srgbClr val="00B050"/>
                </a:solidFill>
              </a:rPr>
              <a:t>are </a:t>
            </a:r>
            <a:r>
              <a:rPr lang="en-GB" sz="2400" b="1" dirty="0">
                <a:solidFill>
                  <a:srgbClr val="00B050"/>
                </a:solidFill>
              </a:rPr>
              <a:t>Covered.</a:t>
            </a:r>
          </a:p>
          <a:p>
            <a:pPr marL="455613" indent="-455613">
              <a:lnSpc>
                <a:spcPct val="150000"/>
              </a:lnSpc>
              <a:spcBef>
                <a:spcPct val="30000"/>
              </a:spcBef>
              <a:buFont typeface="Calibri" pitchFamily="34" charset="0"/>
              <a:buChar char="•"/>
              <a:defRPr/>
            </a:pPr>
            <a:endParaRPr lang="en-GB" sz="2400" dirty="0" smtClean="0"/>
          </a:p>
          <a:p>
            <a:pPr marL="455613" indent="-455613">
              <a:lnSpc>
                <a:spcPct val="150000"/>
              </a:lnSpc>
              <a:spcBef>
                <a:spcPct val="30000"/>
              </a:spcBef>
              <a:buFont typeface="Calibri" pitchFamily="34" charset="0"/>
              <a:buChar char="•"/>
              <a:defRPr/>
            </a:pPr>
            <a:r>
              <a:rPr lang="en-GB" sz="2400" b="1" dirty="0" smtClean="0">
                <a:solidFill>
                  <a:srgbClr val="FF0000"/>
                </a:solidFill>
              </a:rPr>
              <a:t>Additional Charges for visiting doctor are not payable.</a:t>
            </a:r>
          </a:p>
          <a:p>
            <a:pPr marL="455613" indent="-455613">
              <a:lnSpc>
                <a:spcPct val="150000"/>
              </a:lnSpc>
              <a:spcBef>
                <a:spcPct val="30000"/>
              </a:spcBef>
              <a:buFont typeface="Calibri" pitchFamily="34" charset="0"/>
              <a:buChar char="•"/>
              <a:defRPr/>
            </a:pPr>
            <a:endParaRPr lang="en-GB" sz="2400" dirty="0" smtClean="0"/>
          </a:p>
          <a:p>
            <a:pPr marL="0" indent="0">
              <a:buNone/>
              <a:defRPr/>
            </a:pPr>
            <a:endParaRPr lang="en-US" sz="2800" dirty="0"/>
          </a:p>
        </p:txBody>
      </p:sp>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3EF841-FF41-4CD3-ADA7-2CDE7EB59B4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99" b="99641" l="0" r="98597"/>
                    </a14:imgEffect>
                  </a14:imgLayer>
                </a14:imgProps>
              </a:ext>
            </a:extLst>
          </a:blip>
          <a:stretch>
            <a:fillRect/>
          </a:stretch>
        </p:blipFill>
        <p:spPr>
          <a:xfrm>
            <a:off x="3825081" y="2209800"/>
            <a:ext cx="4114800" cy="4382471"/>
          </a:xfrm>
          <a:prstGeom prst="rect">
            <a:avLst/>
          </a:prstGeom>
        </p:spPr>
      </p:pic>
      <p:sp>
        <p:nvSpPr>
          <p:cNvPr id="6" name="TextBox 5">
            <a:extLst>
              <a:ext uri="{FF2B5EF4-FFF2-40B4-BE49-F238E27FC236}">
                <a16:creationId xmlns:a16="http://schemas.microsoft.com/office/drawing/2014/main" id="{66A84071-B150-4B46-9E62-3985703B75E8}"/>
              </a:ext>
            </a:extLst>
          </p:cNvPr>
          <p:cNvSpPr txBox="1"/>
          <p:nvPr/>
        </p:nvSpPr>
        <p:spPr>
          <a:xfrm>
            <a:off x="15081" y="914400"/>
            <a:ext cx="12069763" cy="1107996"/>
          </a:xfrm>
          <a:prstGeom prst="rect">
            <a:avLst/>
          </a:prstGeom>
          <a:noFill/>
        </p:spPr>
        <p:txBody>
          <a:bodyPr wrap="square">
            <a:spAutoFit/>
          </a:bodyPr>
          <a:lstStyle/>
          <a:p>
            <a:pPr algn="ctr">
              <a:defRPr/>
            </a:pPr>
            <a:r>
              <a:rPr lang="en-US" sz="6600" b="1" dirty="0"/>
              <a:t>Group HealthCare Takaful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38434E-049C-40DC-B1C9-D05557FAF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7481" y="0"/>
            <a:ext cx="4495800" cy="3830422"/>
          </a:xfrm>
          <a:prstGeom prst="rect">
            <a:avLst/>
          </a:prstGeom>
          <a:ln>
            <a:noFill/>
          </a:ln>
          <a:effectLst>
            <a:softEdge rad="112500"/>
          </a:effectLst>
        </p:spPr>
      </p:pic>
      <p:sp>
        <p:nvSpPr>
          <p:cNvPr id="6" name="TextBox 5">
            <a:extLst>
              <a:ext uri="{FF2B5EF4-FFF2-40B4-BE49-F238E27FC236}">
                <a16:creationId xmlns:a16="http://schemas.microsoft.com/office/drawing/2014/main" id="{D3CA6D78-B404-4667-B80B-38100697ED9F}"/>
              </a:ext>
            </a:extLst>
          </p:cNvPr>
          <p:cNvSpPr txBox="1"/>
          <p:nvPr/>
        </p:nvSpPr>
        <p:spPr>
          <a:xfrm>
            <a:off x="-823119" y="1828800"/>
            <a:ext cx="10363200" cy="4355038"/>
          </a:xfrm>
          <a:prstGeom prst="rect">
            <a:avLst/>
          </a:prstGeom>
          <a:noFill/>
        </p:spPr>
        <p:txBody>
          <a:bodyPr wrap="square">
            <a:spAutoFit/>
          </a:bodyPr>
          <a:lstStyle/>
          <a:p>
            <a:pPr algn="ctr">
              <a:defRPr/>
            </a:pPr>
            <a:r>
              <a:rPr lang="en-US" sz="11500" b="1" dirty="0">
                <a:latin typeface="+mj-lt"/>
              </a:rPr>
              <a:t>How to claim</a:t>
            </a:r>
          </a:p>
          <a:p>
            <a:pPr marL="571500" indent="-571500" algn="ctr">
              <a:buFont typeface="Wingdings" panose="05000000000000000000" pitchFamily="2" charset="2"/>
              <a:buChar char="§"/>
              <a:defRPr/>
            </a:pPr>
            <a:endParaRPr lang="en-US" sz="4400" i="1" dirty="0">
              <a:latin typeface="+mj-lt"/>
            </a:endParaRPr>
          </a:p>
          <a:p>
            <a:pPr marL="571500" indent="-571500" algn="ctr">
              <a:buFont typeface="Wingdings" panose="05000000000000000000" pitchFamily="2" charset="2"/>
              <a:buChar char="§"/>
              <a:defRPr/>
            </a:pPr>
            <a:r>
              <a:rPr lang="en-US" sz="5400" i="1" dirty="0">
                <a:latin typeface="+mj-lt"/>
              </a:rPr>
              <a:t>Planned &amp; Emergency</a:t>
            </a:r>
          </a:p>
          <a:p>
            <a:pPr algn="ctr">
              <a:defRPr/>
            </a:pPr>
            <a:r>
              <a:rPr lang="en-US" sz="3200" i="1" dirty="0">
                <a:latin typeface="+mj-lt"/>
              </a:rPr>
              <a:t>@ Network Hospital</a:t>
            </a:r>
          </a:p>
          <a:p>
            <a:pPr algn="ctr">
              <a:defRPr/>
            </a:pPr>
            <a:r>
              <a:rPr lang="en-US" sz="3200" i="1" dirty="0">
                <a:latin typeface="+mj-lt"/>
              </a:rPr>
              <a:t>@ Non-Network Hospital</a:t>
            </a:r>
          </a:p>
        </p:txBody>
      </p:sp>
    </p:spTree>
    <p:extLst>
      <p:ext uri="{BB962C8B-B14F-4D97-AF65-F5344CB8AC3E}">
        <p14:creationId xmlns:p14="http://schemas.microsoft.com/office/powerpoint/2010/main" val="510741136"/>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167566B-AFEB-4375-AAA1-91D97F0EEAFB}"/>
              </a:ext>
            </a:extLst>
          </p:cNvPr>
          <p:cNvSpPr>
            <a:spLocks noGrp="1"/>
          </p:cNvSpPr>
          <p:nvPr>
            <p:ph type="title"/>
          </p:nvPr>
        </p:nvSpPr>
        <p:spPr/>
        <p:txBody>
          <a:bodyPr>
            <a:normAutofit/>
          </a:bodyPr>
          <a:lstStyle/>
          <a:p>
            <a:pPr eaLnBrk="1" hangingPunct="1">
              <a:defRPr/>
            </a:pPr>
            <a:r>
              <a:rPr lang="en-US" sz="3200" b="1" dirty="0"/>
              <a:t>Procedure for Hospital Admission</a:t>
            </a:r>
            <a:endParaRPr lang="en-US" sz="2800" b="1" dirty="0">
              <a:solidFill>
                <a:srgbClr val="C00000"/>
              </a:solidFill>
              <a:latin typeface="+mn-lt"/>
              <a:ea typeface="+mn-ea"/>
              <a:cs typeface="+mn-cs"/>
            </a:endParaRPr>
          </a:p>
        </p:txBody>
      </p:sp>
      <p:sp>
        <p:nvSpPr>
          <p:cNvPr id="3" name="Content Placeholder 2">
            <a:extLst>
              <a:ext uri="{FF2B5EF4-FFF2-40B4-BE49-F238E27FC236}">
                <a16:creationId xmlns:a16="http://schemas.microsoft.com/office/drawing/2014/main" id="{96C1C365-9289-4B9D-B41B-628BB47C7A05}"/>
              </a:ext>
            </a:extLst>
          </p:cNvPr>
          <p:cNvSpPr>
            <a:spLocks noGrp="1"/>
          </p:cNvSpPr>
          <p:nvPr>
            <p:ph idx="4294967295"/>
          </p:nvPr>
        </p:nvSpPr>
        <p:spPr>
          <a:xfrm>
            <a:off x="1044859" y="1076130"/>
            <a:ext cx="10476422" cy="4791269"/>
          </a:xfrm>
        </p:spPr>
        <p:txBody>
          <a:bodyPr rtlCol="0">
            <a:normAutofit fontScale="85000" lnSpcReduction="10000"/>
          </a:bodyPr>
          <a:lstStyle/>
          <a:p>
            <a:pPr marL="0" indent="0" algn="just">
              <a:buNone/>
              <a:defRPr/>
            </a:pPr>
            <a:r>
              <a:rPr lang="en-US" sz="2000" b="1" dirty="0">
                <a:latin typeface="+mn-lt"/>
                <a:ea typeface="+mn-ea"/>
                <a:cs typeface="+mn-cs"/>
              </a:rPr>
              <a:t>Non-Emergency Case:</a:t>
            </a:r>
            <a:endParaRPr lang="en-US" sz="1200" dirty="0"/>
          </a:p>
          <a:p>
            <a:pPr marL="457200" indent="-457200" algn="just">
              <a:buFont typeface="Calibri" pitchFamily="34" charset="0"/>
              <a:buChar char="•"/>
              <a:defRPr/>
            </a:pPr>
            <a:endParaRPr lang="en-GB" sz="2000" dirty="0"/>
          </a:p>
          <a:p>
            <a:pPr algn="just">
              <a:buFont typeface="Wingdings" panose="05000000000000000000" pitchFamily="2" charset="2"/>
              <a:buChar char="§"/>
              <a:defRPr/>
            </a:pPr>
            <a:r>
              <a:rPr lang="en-GB" sz="2000" dirty="0" smtClean="0"/>
              <a:t>After getting consultation, if you are advised a surgical procedure by a Panel Consultant or you are advised CT/MRI etc. then following  can be the further approaches</a:t>
            </a:r>
          </a:p>
          <a:p>
            <a:pPr marL="457200" indent="-457200" algn="just">
              <a:buFont typeface="+mj-lt"/>
              <a:buAutoNum type="arabicPeriod"/>
              <a:defRPr/>
            </a:pPr>
            <a:r>
              <a:rPr lang="en-GB" sz="2000" dirty="0"/>
              <a:t>you can </a:t>
            </a:r>
            <a:r>
              <a:rPr lang="en-GB" sz="2000" dirty="0" smtClean="0"/>
              <a:t>present Prescription  to </a:t>
            </a:r>
            <a:r>
              <a:rPr lang="en-GB" sz="2000" dirty="0"/>
              <a:t>Corporate office of Panel </a:t>
            </a:r>
            <a:r>
              <a:rPr lang="en-GB" sz="2000" dirty="0" smtClean="0"/>
              <a:t>Hospital along with health card copy and CNIC Copy. They will assist you to complete our Pre-authorization form and duration of history is very important to disclose.</a:t>
            </a:r>
            <a:endParaRPr lang="en-GB" sz="2000" dirty="0"/>
          </a:p>
          <a:p>
            <a:pPr marL="0" indent="0" algn="just">
              <a:buNone/>
              <a:defRPr/>
            </a:pPr>
            <a:r>
              <a:rPr lang="en-GB" sz="2000" dirty="0" smtClean="0"/>
              <a:t>2.    You can yourself complete our Pre-authorization form and share it with PQFT on             	</a:t>
            </a:r>
            <a:r>
              <a:rPr lang="en-GB" sz="2000" dirty="0" smtClean="0">
                <a:hlinkClick r:id="rId2"/>
              </a:rPr>
              <a:t>approvals@pakqatar.com.pk</a:t>
            </a:r>
            <a:r>
              <a:rPr lang="en-GB" sz="2000" dirty="0" smtClean="0"/>
              <a:t> along with  Prescription. Duration of disease is mandatory.</a:t>
            </a:r>
            <a:endParaRPr lang="en-GB" sz="2000" dirty="0"/>
          </a:p>
          <a:p>
            <a:pPr marL="457200" indent="-457200" algn="just">
              <a:spcBef>
                <a:spcPct val="30000"/>
              </a:spcBef>
              <a:buAutoNum type="arabicPeriod" startAt="3"/>
              <a:defRPr/>
            </a:pPr>
            <a:r>
              <a:rPr lang="en-GB" sz="2000" dirty="0" smtClean="0"/>
              <a:t>Same can be routed via our Mobile Apps-Elaaj.</a:t>
            </a:r>
          </a:p>
          <a:p>
            <a:pPr marL="457200" indent="-457200" algn="just">
              <a:spcBef>
                <a:spcPct val="30000"/>
              </a:spcBef>
              <a:buAutoNum type="arabicPeriod" startAt="3"/>
              <a:defRPr/>
            </a:pPr>
            <a:r>
              <a:rPr lang="en-GB" sz="2000" dirty="0" smtClean="0"/>
              <a:t>Same can be routed via your HR.</a:t>
            </a:r>
          </a:p>
          <a:p>
            <a:pPr marL="457200" indent="-457200" algn="just">
              <a:spcBef>
                <a:spcPct val="30000"/>
              </a:spcBef>
              <a:buAutoNum type="arabicPeriod" startAt="3"/>
              <a:defRPr/>
            </a:pPr>
            <a:r>
              <a:rPr lang="en-GB" sz="2000" dirty="0" smtClean="0"/>
              <a:t>Same can be routed via our Corporate Sales Manager.</a:t>
            </a:r>
          </a:p>
          <a:p>
            <a:pPr marL="0" indent="0" algn="just">
              <a:spcBef>
                <a:spcPct val="30000"/>
              </a:spcBef>
              <a:buNone/>
              <a:defRPr/>
            </a:pPr>
            <a:r>
              <a:rPr lang="en-GB" sz="2000" dirty="0"/>
              <a:t> </a:t>
            </a:r>
            <a:r>
              <a:rPr lang="en-GB" sz="2000" dirty="0" smtClean="0"/>
              <a:t>Mandatory Documents.</a:t>
            </a:r>
          </a:p>
          <a:p>
            <a:pPr marL="0" indent="0" algn="just">
              <a:spcBef>
                <a:spcPct val="30000"/>
              </a:spcBef>
              <a:buNone/>
              <a:defRPr/>
            </a:pPr>
            <a:r>
              <a:rPr lang="en-GB" sz="2000" dirty="0" smtClean="0"/>
              <a:t>1.Doctor Prescription.</a:t>
            </a:r>
          </a:p>
          <a:p>
            <a:pPr marL="0" indent="0" algn="just">
              <a:spcBef>
                <a:spcPct val="30000"/>
              </a:spcBef>
              <a:buNone/>
              <a:defRPr/>
            </a:pPr>
            <a:r>
              <a:rPr lang="en-GB" sz="2000" dirty="0" smtClean="0"/>
              <a:t>2. Pre-authorization form.</a:t>
            </a:r>
          </a:p>
          <a:p>
            <a:pPr marL="0" indent="0" algn="just">
              <a:spcBef>
                <a:spcPct val="30000"/>
              </a:spcBef>
              <a:buNone/>
              <a:defRPr/>
            </a:pPr>
            <a:r>
              <a:rPr lang="en-GB" sz="2000" dirty="0" smtClean="0"/>
              <a:t>3.Health Card Copy.</a:t>
            </a:r>
          </a:p>
          <a:p>
            <a:pPr marL="0" indent="0" algn="just">
              <a:spcBef>
                <a:spcPct val="30000"/>
              </a:spcBef>
              <a:buNone/>
              <a:defRPr/>
            </a:pPr>
            <a:r>
              <a:rPr lang="en-GB" sz="2000" dirty="0" smtClean="0"/>
              <a:t>4.CNIC Copy at the time of admission.</a:t>
            </a:r>
            <a:endParaRPr lang="en-GB" sz="2000" dirty="0"/>
          </a:p>
        </p:txBody>
      </p:sp>
    </p:spTree>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8233E9-449B-4A1F-9A2B-A63D1A3D7E87}"/>
              </a:ext>
            </a:extLst>
          </p:cNvPr>
          <p:cNvSpPr>
            <a:spLocks noGrp="1"/>
          </p:cNvSpPr>
          <p:nvPr>
            <p:ph type="title"/>
          </p:nvPr>
        </p:nvSpPr>
        <p:spPr/>
        <p:txBody>
          <a:bodyPr>
            <a:normAutofit/>
          </a:bodyPr>
          <a:lstStyle/>
          <a:p>
            <a:r>
              <a:rPr lang="en-US" sz="3200" b="1" dirty="0"/>
              <a:t>Procedure for Hospital Admission</a:t>
            </a:r>
          </a:p>
        </p:txBody>
      </p:sp>
      <p:sp>
        <p:nvSpPr>
          <p:cNvPr id="3" name="Content Placeholder 2">
            <a:extLst>
              <a:ext uri="{FF2B5EF4-FFF2-40B4-BE49-F238E27FC236}">
                <a16:creationId xmlns:a16="http://schemas.microsoft.com/office/drawing/2014/main" id="{8FF05B3B-4258-42C5-B0AA-94A85A677446}"/>
              </a:ext>
            </a:extLst>
          </p:cNvPr>
          <p:cNvSpPr>
            <a:spLocks noGrp="1"/>
          </p:cNvSpPr>
          <p:nvPr>
            <p:ph idx="4294967295"/>
          </p:nvPr>
        </p:nvSpPr>
        <p:spPr>
          <a:xfrm>
            <a:off x="853281" y="1143000"/>
            <a:ext cx="10668000" cy="5029200"/>
          </a:xfrm>
        </p:spPr>
        <p:txBody>
          <a:bodyPr rtlCol="0">
            <a:normAutofit fontScale="85000" lnSpcReduction="20000"/>
          </a:bodyPr>
          <a:lstStyle/>
          <a:p>
            <a:pPr marL="457200" indent="-457200" algn="just">
              <a:lnSpc>
                <a:spcPct val="90000"/>
              </a:lnSpc>
              <a:buNone/>
              <a:defRPr/>
            </a:pPr>
            <a:r>
              <a:rPr lang="en-GB" sz="2800" b="1" dirty="0">
                <a:solidFill>
                  <a:srgbClr val="C00000"/>
                </a:solidFill>
              </a:rPr>
              <a:t>Emergency case:</a:t>
            </a:r>
          </a:p>
          <a:p>
            <a:pPr marL="457200" indent="-457200" algn="just">
              <a:lnSpc>
                <a:spcPct val="90000"/>
              </a:lnSpc>
              <a:buNone/>
              <a:defRPr/>
            </a:pPr>
            <a:endParaRPr lang="en-GB" sz="1400" b="1" dirty="0">
              <a:solidFill>
                <a:srgbClr val="C00000"/>
              </a:solidFill>
            </a:endParaRPr>
          </a:p>
          <a:p>
            <a:pPr algn="just">
              <a:lnSpc>
                <a:spcPct val="150000"/>
              </a:lnSpc>
              <a:spcBef>
                <a:spcPct val="25000"/>
              </a:spcBef>
              <a:buFont typeface="Wingdings" panose="05000000000000000000" pitchFamily="2" charset="2"/>
              <a:buChar char="§"/>
              <a:defRPr/>
            </a:pPr>
            <a:r>
              <a:rPr lang="en-GB" sz="2100" dirty="0"/>
              <a:t>Pre-Authorization is not recommended in an </a:t>
            </a:r>
            <a:r>
              <a:rPr lang="en-GB" sz="2100" b="1" dirty="0"/>
              <a:t>“Emergency Medical Condition”</a:t>
            </a:r>
          </a:p>
          <a:p>
            <a:pPr algn="just">
              <a:lnSpc>
                <a:spcPct val="150000"/>
              </a:lnSpc>
              <a:spcBef>
                <a:spcPct val="25000"/>
              </a:spcBef>
              <a:buFont typeface="Wingdings" panose="05000000000000000000" pitchFamily="2" charset="2"/>
              <a:buChar char="§"/>
              <a:defRPr/>
            </a:pPr>
            <a:r>
              <a:rPr lang="en-GB" sz="2100" dirty="0"/>
              <a:t>Proceed to the nearest hospital and go to the emergency </a:t>
            </a:r>
            <a:r>
              <a:rPr lang="en-GB" sz="2100" dirty="0" smtClean="0"/>
              <a:t>department.</a:t>
            </a:r>
          </a:p>
          <a:p>
            <a:pPr algn="just">
              <a:lnSpc>
                <a:spcPct val="150000"/>
              </a:lnSpc>
              <a:spcBef>
                <a:spcPct val="25000"/>
              </a:spcBef>
              <a:buFont typeface="Wingdings" panose="05000000000000000000" pitchFamily="2" charset="2"/>
              <a:buChar char="§"/>
              <a:defRPr/>
            </a:pPr>
            <a:r>
              <a:rPr lang="en-GB" sz="2100" dirty="0" smtClean="0"/>
              <a:t>You may contact our 24/7 Emergency numbers for any support.</a:t>
            </a:r>
            <a:endParaRPr lang="en-GB" sz="2100" dirty="0"/>
          </a:p>
          <a:p>
            <a:pPr algn="just">
              <a:lnSpc>
                <a:spcPct val="150000"/>
              </a:lnSpc>
              <a:spcBef>
                <a:spcPct val="25000"/>
              </a:spcBef>
              <a:buFont typeface="Wingdings" panose="05000000000000000000" pitchFamily="2" charset="2"/>
              <a:buChar char="§"/>
              <a:defRPr/>
            </a:pPr>
            <a:r>
              <a:rPr lang="en-GB" sz="2100" dirty="0"/>
              <a:t>It is advisable, if possible, to visit a Network hospital as they are all located in major localities of the city.  (A hospital that is not on our Network will require Cash payment before admitting the patient.  In addition, you cannot be sure of the quality of care available).</a:t>
            </a:r>
          </a:p>
          <a:p>
            <a:pPr algn="just">
              <a:lnSpc>
                <a:spcPct val="150000"/>
              </a:lnSpc>
              <a:spcBef>
                <a:spcPct val="25000"/>
              </a:spcBef>
              <a:buClr>
                <a:schemeClr val="tx1"/>
              </a:buClr>
              <a:buFont typeface="Wingdings" panose="05000000000000000000" pitchFamily="2" charset="2"/>
              <a:buChar char="§"/>
              <a:defRPr/>
            </a:pPr>
            <a:r>
              <a:rPr lang="en-GB" sz="2100" dirty="0"/>
              <a:t>Within 24 hours of hospital admission</a:t>
            </a:r>
            <a:r>
              <a:rPr lang="en-GB" sz="2100" dirty="0" smtClean="0"/>
              <a:t>, It is mandatory to inform Pak-Qatar Family Takaful via Numbers mentioned on health card.</a:t>
            </a:r>
            <a:endParaRPr lang="en-GB" sz="2100" dirty="0"/>
          </a:p>
          <a:p>
            <a:pPr marL="914400" lvl="1" indent="-457200" algn="just">
              <a:lnSpc>
                <a:spcPct val="150000"/>
              </a:lnSpc>
              <a:spcBef>
                <a:spcPct val="25000"/>
              </a:spcBef>
              <a:buFont typeface="+mj-lt"/>
              <a:buAutoNum type="arabicPeriod"/>
              <a:defRPr/>
            </a:pPr>
            <a:r>
              <a:rPr lang="en-GB" sz="2100" b="1" dirty="0"/>
              <a:t>Company’s Name and Employee ID Number</a:t>
            </a:r>
          </a:p>
          <a:p>
            <a:pPr marL="914400" lvl="1" indent="-457200" algn="just">
              <a:lnSpc>
                <a:spcPct val="150000"/>
              </a:lnSpc>
              <a:spcBef>
                <a:spcPct val="25000"/>
              </a:spcBef>
              <a:buFont typeface="+mj-lt"/>
              <a:buAutoNum type="arabicPeriod"/>
              <a:defRPr/>
            </a:pPr>
            <a:r>
              <a:rPr lang="en-GB" sz="2100" b="1" dirty="0"/>
              <a:t>Name of the treating hospital</a:t>
            </a:r>
          </a:p>
          <a:p>
            <a:pPr marL="914400" lvl="1" indent="-457200" algn="just">
              <a:lnSpc>
                <a:spcPct val="150000"/>
              </a:lnSpc>
              <a:spcBef>
                <a:spcPct val="25000"/>
              </a:spcBef>
              <a:buFont typeface="+mj-lt"/>
              <a:buAutoNum type="arabicPeriod"/>
              <a:defRPr/>
            </a:pPr>
            <a:r>
              <a:rPr lang="en-GB" sz="2100" b="1" dirty="0"/>
              <a:t>The reason of admission (Diagnosis)</a:t>
            </a:r>
          </a:p>
        </p:txBody>
      </p:sp>
    </p:spTree>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Picture 2">
            <a:extLst>
              <a:ext uri="{FF2B5EF4-FFF2-40B4-BE49-F238E27FC236}">
                <a16:creationId xmlns:a16="http://schemas.microsoft.com/office/drawing/2014/main" id="{614A5BBE-CD71-405D-975E-44BA81223973}"/>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357" t="1807" r="3572" b="1807"/>
          <a:stretch/>
        </p:blipFill>
        <p:spPr bwMode="auto">
          <a:xfrm>
            <a:off x="3825081" y="914400"/>
            <a:ext cx="4042605" cy="554867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D642920-E4A6-426A-83CA-F4DF1628189C}"/>
              </a:ext>
            </a:extLst>
          </p:cNvPr>
          <p:cNvSpPr>
            <a:spLocks noGrp="1"/>
          </p:cNvSpPr>
          <p:nvPr>
            <p:ph type="title"/>
          </p:nvPr>
        </p:nvSpPr>
        <p:spPr/>
        <p:txBody>
          <a:bodyPr>
            <a:normAutofit/>
          </a:bodyPr>
          <a:lstStyle/>
          <a:p>
            <a:r>
              <a:rPr lang="en-US" sz="3200" b="1" dirty="0"/>
              <a:t>Pre-Authorization Form</a:t>
            </a:r>
          </a:p>
        </p:txBody>
      </p:sp>
    </p:spTree>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D706A-AB48-4A88-83E6-7F75172FC09F}"/>
              </a:ext>
            </a:extLst>
          </p:cNvPr>
          <p:cNvSpPr>
            <a:spLocks noGrp="1"/>
          </p:cNvSpPr>
          <p:nvPr>
            <p:ph type="title"/>
          </p:nvPr>
        </p:nvSpPr>
        <p:spPr/>
        <p:txBody>
          <a:bodyPr rtlCol="0">
            <a:normAutofit/>
          </a:bodyPr>
          <a:lstStyle/>
          <a:p>
            <a:pPr>
              <a:defRPr/>
            </a:pPr>
            <a:r>
              <a:rPr lang="en-US" sz="3200" b="1" dirty="0"/>
              <a:t>Disadvantages of Using a non-Network Hospital</a:t>
            </a:r>
          </a:p>
        </p:txBody>
      </p:sp>
      <p:sp>
        <p:nvSpPr>
          <p:cNvPr id="3" name="Content Placeholder 2">
            <a:extLst>
              <a:ext uri="{FF2B5EF4-FFF2-40B4-BE49-F238E27FC236}">
                <a16:creationId xmlns:a16="http://schemas.microsoft.com/office/drawing/2014/main" id="{B58F5ABE-DF86-4A77-9899-5AA8FC629D24}"/>
              </a:ext>
            </a:extLst>
          </p:cNvPr>
          <p:cNvSpPr>
            <a:spLocks noGrp="1"/>
          </p:cNvSpPr>
          <p:nvPr>
            <p:ph idx="4294967295"/>
          </p:nvPr>
        </p:nvSpPr>
        <p:spPr>
          <a:xfrm>
            <a:off x="1024174" y="1072709"/>
            <a:ext cx="10497108" cy="4525963"/>
          </a:xfrm>
        </p:spPr>
        <p:txBody>
          <a:bodyPr rtlCol="0">
            <a:normAutofit fontScale="77500" lnSpcReduction="20000"/>
          </a:bodyPr>
          <a:lstStyle/>
          <a:p>
            <a:pPr marL="455613" indent="-455613">
              <a:lnSpc>
                <a:spcPct val="125000"/>
              </a:lnSpc>
              <a:spcBef>
                <a:spcPct val="30000"/>
              </a:spcBef>
              <a:buSzPct val="85000"/>
              <a:buBlip>
                <a:blip r:embed="rId2"/>
              </a:buBlip>
              <a:defRPr/>
            </a:pPr>
            <a:r>
              <a:rPr lang="en-GB" sz="2800" dirty="0"/>
              <a:t>You have to </a:t>
            </a:r>
            <a:r>
              <a:rPr lang="en-GB" sz="2800" b="1" dirty="0">
                <a:solidFill>
                  <a:srgbClr val="C00000"/>
                </a:solidFill>
              </a:rPr>
              <a:t>Pay cash</a:t>
            </a:r>
            <a:r>
              <a:rPr lang="en-GB" sz="2800" dirty="0">
                <a:solidFill>
                  <a:srgbClr val="C00000"/>
                </a:solidFill>
              </a:rPr>
              <a:t> </a:t>
            </a:r>
            <a:r>
              <a:rPr lang="en-GB" sz="2800" dirty="0"/>
              <a:t>and then seek reimbursement</a:t>
            </a:r>
          </a:p>
          <a:p>
            <a:pPr marL="455613" indent="-455613">
              <a:lnSpc>
                <a:spcPct val="125000"/>
              </a:lnSpc>
              <a:spcBef>
                <a:spcPct val="30000"/>
              </a:spcBef>
              <a:buClr>
                <a:schemeClr val="tx1"/>
              </a:buClr>
              <a:buSzPct val="85000"/>
              <a:buBlip>
                <a:blip r:embed="rId2"/>
              </a:buBlip>
              <a:defRPr/>
            </a:pPr>
            <a:r>
              <a:rPr lang="en-GB" sz="2800" dirty="0"/>
              <a:t>You are responsible for </a:t>
            </a:r>
            <a:r>
              <a:rPr lang="en-GB" sz="2800" b="1" dirty="0">
                <a:solidFill>
                  <a:srgbClr val="C00000"/>
                </a:solidFill>
              </a:rPr>
              <a:t>collecting all required documentation</a:t>
            </a:r>
            <a:r>
              <a:rPr lang="en-GB" sz="2800" dirty="0">
                <a:solidFill>
                  <a:srgbClr val="C00000"/>
                </a:solidFill>
              </a:rPr>
              <a:t>.</a:t>
            </a:r>
          </a:p>
          <a:p>
            <a:pPr marL="455613" indent="-455613">
              <a:spcBef>
                <a:spcPct val="30000"/>
              </a:spcBef>
              <a:buClr>
                <a:schemeClr val="tx1"/>
              </a:buClr>
              <a:buSzPct val="85000"/>
              <a:buBlip>
                <a:blip r:embed="rId2"/>
              </a:buBlip>
              <a:defRPr/>
            </a:pPr>
            <a:r>
              <a:rPr lang="en-GB" sz="2800" dirty="0"/>
              <a:t>You are responsible for </a:t>
            </a:r>
            <a:r>
              <a:rPr lang="en-GB" sz="2800" b="1" dirty="0">
                <a:solidFill>
                  <a:srgbClr val="C00000"/>
                </a:solidFill>
              </a:rPr>
              <a:t>completing the claim form</a:t>
            </a:r>
            <a:r>
              <a:rPr lang="en-GB" sz="2800" dirty="0">
                <a:solidFill>
                  <a:srgbClr val="C00000"/>
                </a:solidFill>
              </a:rPr>
              <a:t> </a:t>
            </a:r>
            <a:r>
              <a:rPr lang="en-GB" sz="2800" dirty="0"/>
              <a:t>and </a:t>
            </a:r>
            <a:r>
              <a:rPr lang="en-GB" sz="2800" b="1" dirty="0">
                <a:solidFill>
                  <a:srgbClr val="C00000"/>
                </a:solidFill>
              </a:rPr>
              <a:t>getting it signed</a:t>
            </a:r>
            <a:r>
              <a:rPr lang="en-GB" sz="2800" i="1" dirty="0">
                <a:solidFill>
                  <a:srgbClr val="C00000"/>
                </a:solidFill>
              </a:rPr>
              <a:t> </a:t>
            </a:r>
            <a:r>
              <a:rPr lang="en-GB" sz="2800" dirty="0"/>
              <a:t>by the treating physicians/surgeons.</a:t>
            </a:r>
          </a:p>
          <a:p>
            <a:pPr marL="455613" indent="-455613">
              <a:lnSpc>
                <a:spcPct val="125000"/>
              </a:lnSpc>
              <a:spcBef>
                <a:spcPct val="50000"/>
              </a:spcBef>
              <a:buSzPct val="85000"/>
              <a:buBlip>
                <a:blip r:embed="rId2"/>
              </a:buBlip>
              <a:defRPr/>
            </a:pPr>
            <a:r>
              <a:rPr lang="en-GB" sz="2800" dirty="0"/>
              <a:t>You have to wait for </a:t>
            </a:r>
            <a:r>
              <a:rPr lang="en-GB" sz="2800" b="1" dirty="0">
                <a:solidFill>
                  <a:srgbClr val="C00000"/>
                </a:solidFill>
              </a:rPr>
              <a:t>15 working days</a:t>
            </a:r>
            <a:r>
              <a:rPr lang="en-GB" sz="2800" dirty="0">
                <a:solidFill>
                  <a:srgbClr val="C00000"/>
                </a:solidFill>
              </a:rPr>
              <a:t> </a:t>
            </a:r>
            <a:r>
              <a:rPr lang="en-GB" sz="2800" dirty="0"/>
              <a:t>after submitting complete documentation to receive the reimbursement cheque. </a:t>
            </a:r>
          </a:p>
          <a:p>
            <a:pPr marL="455613" indent="-455613">
              <a:buSzPct val="85000"/>
              <a:buBlip>
                <a:blip r:embed="rId2"/>
              </a:buBlip>
              <a:defRPr/>
            </a:pPr>
            <a:r>
              <a:rPr lang="en-GB" sz="2800" dirty="0"/>
              <a:t>You cannot be sure if the Hospital is adequately equipped or that the Doctor is qualified to perform the procedure.</a:t>
            </a:r>
          </a:p>
          <a:p>
            <a:pPr marL="455613" indent="-455613">
              <a:lnSpc>
                <a:spcPct val="200000"/>
              </a:lnSpc>
              <a:buSzPct val="85000"/>
              <a:buBlip>
                <a:blip r:embed="rId2"/>
              </a:buBlip>
              <a:defRPr/>
            </a:pPr>
            <a:r>
              <a:rPr lang="en-GB" sz="2800" dirty="0"/>
              <a:t>You have to call us within 24 hours of hospital admission</a:t>
            </a:r>
          </a:p>
          <a:p>
            <a:pPr marL="455613" indent="-455613">
              <a:lnSpc>
                <a:spcPct val="200000"/>
              </a:lnSpc>
              <a:buSzPct val="85000"/>
              <a:buBlip>
                <a:blip r:embed="rId2"/>
              </a:buBlip>
              <a:defRPr/>
            </a:pPr>
            <a:r>
              <a:rPr lang="en-GB" sz="2800" dirty="0"/>
              <a:t>Reimbursement is inline with the Panel Hospital rates.</a:t>
            </a:r>
          </a:p>
          <a:p>
            <a:pPr marL="455613" indent="-455613">
              <a:lnSpc>
                <a:spcPct val="125000"/>
              </a:lnSpc>
              <a:spcBef>
                <a:spcPct val="50000"/>
              </a:spcBef>
              <a:buSzPct val="85000"/>
              <a:buNone/>
              <a:defRPr/>
            </a:pPr>
            <a:endParaRPr lang="en-GB" sz="2800" dirty="0">
              <a:latin typeface="Monotype Corsiva" pitchFamily="66" charset="0"/>
            </a:endParaRPr>
          </a:p>
          <a:p>
            <a:pPr>
              <a:defRPr/>
            </a:pPr>
            <a:endParaRPr lang="en-US" sz="3600" dirty="0"/>
          </a:p>
        </p:txBody>
      </p:sp>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55A61-DE79-4A41-BB5F-E2F2FD4C2F97}"/>
              </a:ext>
            </a:extLst>
          </p:cNvPr>
          <p:cNvSpPr>
            <a:spLocks noGrp="1"/>
          </p:cNvSpPr>
          <p:nvPr>
            <p:ph type="title"/>
          </p:nvPr>
        </p:nvSpPr>
        <p:spPr/>
        <p:txBody>
          <a:bodyPr rtlCol="0">
            <a:noAutofit/>
          </a:bodyPr>
          <a:lstStyle/>
          <a:p>
            <a:pPr>
              <a:defRPr/>
            </a:pPr>
            <a:r>
              <a:rPr lang="en-US" sz="2800" b="1" dirty="0"/>
              <a:t>Documents Required for Claims Reimbursement (in-Patient)</a:t>
            </a:r>
          </a:p>
        </p:txBody>
      </p:sp>
      <p:sp>
        <p:nvSpPr>
          <p:cNvPr id="3" name="Content Placeholder 2">
            <a:extLst>
              <a:ext uri="{FF2B5EF4-FFF2-40B4-BE49-F238E27FC236}">
                <a16:creationId xmlns:a16="http://schemas.microsoft.com/office/drawing/2014/main" id="{F74D14B3-53BF-4D4E-834F-8E9A20814413}"/>
              </a:ext>
            </a:extLst>
          </p:cNvPr>
          <p:cNvSpPr>
            <a:spLocks noGrp="1"/>
          </p:cNvSpPr>
          <p:nvPr>
            <p:ph idx="4294967295"/>
          </p:nvPr>
        </p:nvSpPr>
        <p:spPr>
          <a:xfrm>
            <a:off x="1042834" y="1066800"/>
            <a:ext cx="10478447" cy="4525963"/>
          </a:xfrm>
        </p:spPr>
        <p:txBody>
          <a:bodyPr rtlCol="0">
            <a:normAutofit/>
          </a:bodyPr>
          <a:lstStyle/>
          <a:p>
            <a:pPr marL="455613" indent="-455613">
              <a:lnSpc>
                <a:spcPct val="95000"/>
              </a:lnSpc>
              <a:spcBef>
                <a:spcPct val="30000"/>
              </a:spcBef>
              <a:buSzPct val="85000"/>
              <a:buNone/>
              <a:defRPr/>
            </a:pPr>
            <a:r>
              <a:rPr lang="en-GB" sz="2800" b="1" dirty="0">
                <a:solidFill>
                  <a:srgbClr val="C00000"/>
                </a:solidFill>
              </a:rPr>
              <a:t>In Case Of Non-Network Hospitals: </a:t>
            </a:r>
          </a:p>
          <a:p>
            <a:pPr>
              <a:lnSpc>
                <a:spcPct val="125000"/>
              </a:lnSpc>
              <a:spcBef>
                <a:spcPct val="30000"/>
              </a:spcBef>
              <a:buSzPct val="90000"/>
              <a:buFont typeface="Wingdings" panose="05000000000000000000" pitchFamily="2" charset="2"/>
              <a:buChar char="ü"/>
              <a:defRPr/>
            </a:pPr>
            <a:r>
              <a:rPr lang="en-GB" sz="1800" b="1" dirty="0"/>
              <a:t>Duly filled Claim </a:t>
            </a:r>
            <a:r>
              <a:rPr lang="en-GB" sz="1800" b="1" dirty="0" smtClean="0"/>
              <a:t>Form A n B.</a:t>
            </a:r>
            <a:endParaRPr lang="en-GB" sz="1800" b="1" dirty="0"/>
          </a:p>
          <a:p>
            <a:pPr>
              <a:lnSpc>
                <a:spcPct val="125000"/>
              </a:lnSpc>
              <a:spcBef>
                <a:spcPct val="30000"/>
              </a:spcBef>
              <a:buSzPct val="90000"/>
              <a:buFont typeface="Wingdings" panose="05000000000000000000" pitchFamily="2" charset="2"/>
              <a:buChar char="ü"/>
              <a:defRPr/>
            </a:pPr>
            <a:r>
              <a:rPr lang="en-GB" sz="1800" b="1" dirty="0"/>
              <a:t>Clinical Summary / Discharge Card</a:t>
            </a:r>
          </a:p>
          <a:p>
            <a:pPr>
              <a:lnSpc>
                <a:spcPct val="125000"/>
              </a:lnSpc>
              <a:spcBef>
                <a:spcPct val="30000"/>
              </a:spcBef>
              <a:buSzPct val="90000"/>
              <a:buFont typeface="Wingdings" panose="05000000000000000000" pitchFamily="2" charset="2"/>
              <a:buChar char="ü"/>
              <a:defRPr/>
            </a:pPr>
            <a:r>
              <a:rPr lang="en-GB" sz="1800" b="1" dirty="0"/>
              <a:t>Itemized Hospital </a:t>
            </a:r>
            <a:r>
              <a:rPr lang="en-GB" sz="1800" b="1" dirty="0" smtClean="0"/>
              <a:t>Bill-Original</a:t>
            </a:r>
            <a:endParaRPr lang="en-GB" sz="1800" b="1" dirty="0"/>
          </a:p>
          <a:p>
            <a:pPr>
              <a:lnSpc>
                <a:spcPct val="125000"/>
              </a:lnSpc>
              <a:spcBef>
                <a:spcPct val="30000"/>
              </a:spcBef>
              <a:buSzPct val="90000"/>
              <a:buFont typeface="Wingdings" panose="05000000000000000000" pitchFamily="2" charset="2"/>
              <a:buChar char="ü"/>
              <a:defRPr/>
            </a:pPr>
            <a:r>
              <a:rPr lang="en-GB" sz="1800" b="1" dirty="0"/>
              <a:t>All prescriptions for medicines used during hospitalisation</a:t>
            </a:r>
          </a:p>
          <a:p>
            <a:pPr>
              <a:lnSpc>
                <a:spcPct val="125000"/>
              </a:lnSpc>
              <a:spcBef>
                <a:spcPct val="30000"/>
              </a:spcBef>
              <a:buSzPct val="90000"/>
              <a:buFont typeface="Wingdings" panose="05000000000000000000" pitchFamily="2" charset="2"/>
              <a:buChar char="ü"/>
              <a:defRPr/>
            </a:pPr>
            <a:r>
              <a:rPr lang="en-GB" sz="1800" b="1" dirty="0"/>
              <a:t>Receipts of Medicines </a:t>
            </a:r>
            <a:r>
              <a:rPr lang="en-GB" sz="1800" b="1" dirty="0" smtClean="0"/>
              <a:t>received-Original</a:t>
            </a:r>
            <a:endParaRPr lang="en-GB" sz="1800" b="1" dirty="0"/>
          </a:p>
          <a:p>
            <a:pPr>
              <a:lnSpc>
                <a:spcPct val="125000"/>
              </a:lnSpc>
              <a:spcBef>
                <a:spcPct val="30000"/>
              </a:spcBef>
              <a:buSzPct val="90000"/>
              <a:buFont typeface="Wingdings" panose="05000000000000000000" pitchFamily="2" charset="2"/>
              <a:buChar char="ü"/>
              <a:defRPr/>
            </a:pPr>
            <a:r>
              <a:rPr lang="en-GB" sz="1800" b="1" dirty="0"/>
              <a:t>Laboratory Reports with payment </a:t>
            </a:r>
            <a:r>
              <a:rPr lang="en-GB" sz="1800" b="1" dirty="0" smtClean="0"/>
              <a:t>receipts-Original </a:t>
            </a:r>
            <a:endParaRPr lang="en-GB" sz="1800" b="1" dirty="0"/>
          </a:p>
          <a:p>
            <a:pPr>
              <a:lnSpc>
                <a:spcPct val="125000"/>
              </a:lnSpc>
              <a:spcBef>
                <a:spcPct val="30000"/>
              </a:spcBef>
              <a:buSzPct val="90000"/>
              <a:buFont typeface="Wingdings" panose="05000000000000000000" pitchFamily="2" charset="2"/>
              <a:buChar char="ü"/>
              <a:defRPr/>
            </a:pPr>
            <a:r>
              <a:rPr lang="en-GB" sz="1800" b="1" dirty="0"/>
              <a:t>All other payment </a:t>
            </a:r>
            <a:r>
              <a:rPr lang="en-GB" sz="1800" b="1" dirty="0" smtClean="0"/>
              <a:t>receipts-Original</a:t>
            </a:r>
            <a:endParaRPr lang="en-GB" sz="1800" b="1" dirty="0"/>
          </a:p>
          <a:p>
            <a:pPr>
              <a:lnSpc>
                <a:spcPct val="125000"/>
              </a:lnSpc>
              <a:spcBef>
                <a:spcPct val="30000"/>
              </a:spcBef>
              <a:buSzPct val="90000"/>
              <a:buFont typeface="Wingdings" panose="05000000000000000000" pitchFamily="2" charset="2"/>
              <a:buChar char="ü"/>
              <a:defRPr/>
            </a:pPr>
            <a:r>
              <a:rPr lang="en-GB" sz="1800" b="1" dirty="0"/>
              <a:t>Provisional Birth Certificate (issued by the Hospital) in case of child birth</a:t>
            </a:r>
          </a:p>
          <a:p>
            <a:pPr>
              <a:defRPr/>
            </a:pPr>
            <a:endParaRPr lang="en-US" sz="2400" dirty="0">
              <a:latin typeface="Monotype Corsiva" pitchFamily="66" charset="0"/>
            </a:endParaRPr>
          </a:p>
        </p:txBody>
      </p:sp>
    </p:spTree>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318EFF-F3EF-46DE-BAB2-017030D4A054}"/>
              </a:ext>
            </a:extLst>
          </p:cNvPr>
          <p:cNvSpPr txBox="1"/>
          <p:nvPr/>
        </p:nvSpPr>
        <p:spPr>
          <a:xfrm rot="5400000">
            <a:off x="3929082" y="48399"/>
            <a:ext cx="553998" cy="3200400"/>
          </a:xfrm>
          <a:prstGeom prst="rect">
            <a:avLst/>
          </a:prstGeom>
        </p:spPr>
        <p:style>
          <a:lnRef idx="2">
            <a:schemeClr val="accent2"/>
          </a:lnRef>
          <a:fillRef idx="1">
            <a:schemeClr val="lt1"/>
          </a:fillRef>
          <a:effectRef idx="0">
            <a:schemeClr val="accent2"/>
          </a:effectRef>
          <a:fontRef idx="minor">
            <a:schemeClr val="dk1"/>
          </a:fontRef>
        </p:style>
        <p:txBody>
          <a:bodyPr vert="vert270">
            <a:spAutoFit/>
          </a:bodyPr>
          <a:lstStyle/>
          <a:p>
            <a:pPr algn="ctr">
              <a:defRPr/>
            </a:pPr>
            <a:r>
              <a:rPr lang="en-US" sz="2400" b="1" dirty="0"/>
              <a:t>Claim Form – Part A</a:t>
            </a:r>
          </a:p>
        </p:txBody>
      </p:sp>
      <p:sp>
        <p:nvSpPr>
          <p:cNvPr id="7" name="TextBox 6">
            <a:extLst>
              <a:ext uri="{FF2B5EF4-FFF2-40B4-BE49-F238E27FC236}">
                <a16:creationId xmlns:a16="http://schemas.microsoft.com/office/drawing/2014/main" id="{B7E62BCA-90CD-4EAE-9A9D-524872AA71A8}"/>
              </a:ext>
            </a:extLst>
          </p:cNvPr>
          <p:cNvSpPr txBox="1"/>
          <p:nvPr/>
        </p:nvSpPr>
        <p:spPr>
          <a:xfrm rot="5400000">
            <a:off x="5148282" y="2105799"/>
            <a:ext cx="553998" cy="3200400"/>
          </a:xfrm>
          <a:prstGeom prst="rect">
            <a:avLst/>
          </a:prstGeom>
        </p:spPr>
        <p:style>
          <a:lnRef idx="2">
            <a:schemeClr val="accent2"/>
          </a:lnRef>
          <a:fillRef idx="1">
            <a:schemeClr val="lt1"/>
          </a:fillRef>
          <a:effectRef idx="0">
            <a:schemeClr val="accent2"/>
          </a:effectRef>
          <a:fontRef idx="minor">
            <a:schemeClr val="dk1"/>
          </a:fontRef>
        </p:style>
        <p:txBody>
          <a:bodyPr vert="vert270">
            <a:spAutoFit/>
          </a:bodyPr>
          <a:lstStyle/>
          <a:p>
            <a:pPr algn="ctr">
              <a:defRPr/>
            </a:pPr>
            <a:r>
              <a:rPr lang="en-US" sz="2400" b="1" dirty="0"/>
              <a:t>Claim Form – Part B</a:t>
            </a:r>
          </a:p>
        </p:txBody>
      </p:sp>
      <p:sp>
        <p:nvSpPr>
          <p:cNvPr id="8" name="Striped Right Arrow 7">
            <a:hlinkClick r:id="rId2" action="ppaction://hlinkfile"/>
            <a:extLst>
              <a:ext uri="{FF2B5EF4-FFF2-40B4-BE49-F238E27FC236}">
                <a16:creationId xmlns:a16="http://schemas.microsoft.com/office/drawing/2014/main" id="{A68F5036-5596-4C2D-A550-844202F5AAD1}"/>
              </a:ext>
            </a:extLst>
          </p:cNvPr>
          <p:cNvSpPr/>
          <p:nvPr/>
        </p:nvSpPr>
        <p:spPr>
          <a:xfrm>
            <a:off x="3901281" y="1676400"/>
            <a:ext cx="2971800" cy="139858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 name="Striped Right Arrow 8">
            <a:hlinkClick r:id="rId3" action="ppaction://hlinkfile"/>
            <a:extLst>
              <a:ext uri="{FF2B5EF4-FFF2-40B4-BE49-F238E27FC236}">
                <a16:creationId xmlns:a16="http://schemas.microsoft.com/office/drawing/2014/main" id="{4E7FF510-12FC-42D1-B983-F6394D0758DF}"/>
              </a:ext>
            </a:extLst>
          </p:cNvPr>
          <p:cNvSpPr/>
          <p:nvPr/>
        </p:nvSpPr>
        <p:spPr>
          <a:xfrm>
            <a:off x="5120481" y="3733800"/>
            <a:ext cx="2971800" cy="139858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F0AFBE-38EA-4295-BF8B-3AA46FF037F6}"/>
              </a:ext>
            </a:extLst>
          </p:cNvPr>
          <p:cNvSpPr txBox="1"/>
          <p:nvPr/>
        </p:nvSpPr>
        <p:spPr>
          <a:xfrm>
            <a:off x="1903948" y="609600"/>
            <a:ext cx="553998" cy="3200400"/>
          </a:xfrm>
          <a:prstGeom prst="rect">
            <a:avLst/>
          </a:prstGeom>
        </p:spPr>
        <p:style>
          <a:lnRef idx="2">
            <a:schemeClr val="accent2"/>
          </a:lnRef>
          <a:fillRef idx="1">
            <a:schemeClr val="lt1"/>
          </a:fillRef>
          <a:effectRef idx="0">
            <a:schemeClr val="accent2"/>
          </a:effectRef>
          <a:fontRef idx="minor">
            <a:schemeClr val="dk1"/>
          </a:fontRef>
        </p:style>
        <p:txBody>
          <a:bodyPr vert="vert270">
            <a:spAutoFit/>
          </a:bodyPr>
          <a:lstStyle/>
          <a:p>
            <a:pPr algn="ctr">
              <a:defRPr/>
            </a:pPr>
            <a:r>
              <a:rPr lang="en-US" sz="2400" b="1" dirty="0"/>
              <a:t>Claim Form – Part A</a:t>
            </a:r>
          </a:p>
        </p:txBody>
      </p:sp>
      <p:pic>
        <p:nvPicPr>
          <p:cNvPr id="59395" name="Picture 3" descr="C:\Users\Tariq Saeed\Desktop\Hospitalization Reimbursement -Form-A_001.jpg">
            <a:extLst>
              <a:ext uri="{FF2B5EF4-FFF2-40B4-BE49-F238E27FC236}">
                <a16:creationId xmlns:a16="http://schemas.microsoft.com/office/drawing/2014/main" id="{1EE91730-5F82-4ECE-AAA6-25A128F5DE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55"/>
          <a:stretch/>
        </p:blipFill>
        <p:spPr bwMode="auto">
          <a:xfrm>
            <a:off x="3279775" y="0"/>
            <a:ext cx="5510212"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82AFB8-7156-4D45-82F4-0981944C27B2}"/>
              </a:ext>
            </a:extLst>
          </p:cNvPr>
          <p:cNvSpPr txBox="1"/>
          <p:nvPr/>
        </p:nvSpPr>
        <p:spPr>
          <a:xfrm>
            <a:off x="1903948" y="609600"/>
            <a:ext cx="553998" cy="3200400"/>
          </a:xfrm>
          <a:prstGeom prst="rect">
            <a:avLst/>
          </a:prstGeom>
        </p:spPr>
        <p:style>
          <a:lnRef idx="2">
            <a:schemeClr val="accent2"/>
          </a:lnRef>
          <a:fillRef idx="1">
            <a:schemeClr val="lt1"/>
          </a:fillRef>
          <a:effectRef idx="0">
            <a:schemeClr val="accent2"/>
          </a:effectRef>
          <a:fontRef idx="minor">
            <a:schemeClr val="dk1"/>
          </a:fontRef>
        </p:style>
        <p:txBody>
          <a:bodyPr vert="vert270">
            <a:spAutoFit/>
          </a:bodyPr>
          <a:lstStyle/>
          <a:p>
            <a:pPr algn="ctr">
              <a:defRPr/>
            </a:pPr>
            <a:r>
              <a:rPr lang="en-US" sz="2400" b="1" dirty="0"/>
              <a:t>Claim Form – Part B</a:t>
            </a:r>
          </a:p>
        </p:txBody>
      </p:sp>
      <p:pic>
        <p:nvPicPr>
          <p:cNvPr id="60419" name="Picture 2" descr="C:\Users\Tariq Saeed\Desktop\Hospitalization Reimbursement Claim Form B_001.png">
            <a:extLst>
              <a:ext uri="{FF2B5EF4-FFF2-40B4-BE49-F238E27FC236}">
                <a16:creationId xmlns:a16="http://schemas.microsoft.com/office/drawing/2014/main" id="{9B943353-D675-4895-BB06-18D18E4150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614"/>
          <a:stretch/>
        </p:blipFill>
        <p:spPr bwMode="auto">
          <a:xfrm>
            <a:off x="3349052" y="228600"/>
            <a:ext cx="5371659"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731F-41C2-4173-B6D5-1354A8AF01F9}"/>
              </a:ext>
            </a:extLst>
          </p:cNvPr>
          <p:cNvSpPr>
            <a:spLocks noGrp="1"/>
          </p:cNvSpPr>
          <p:nvPr>
            <p:ph type="title"/>
          </p:nvPr>
        </p:nvSpPr>
        <p:spPr/>
        <p:txBody>
          <a:bodyPr rtlCol="0">
            <a:normAutofit/>
          </a:bodyPr>
          <a:lstStyle/>
          <a:p>
            <a:pPr algn="l">
              <a:defRPr/>
            </a:pPr>
            <a:r>
              <a:rPr lang="en-US" sz="3600" b="1" dirty="0"/>
              <a:t>	Advantages of Using a Network Hospital</a:t>
            </a:r>
          </a:p>
        </p:txBody>
      </p:sp>
      <p:sp>
        <p:nvSpPr>
          <p:cNvPr id="3" name="Content Placeholder 2">
            <a:extLst>
              <a:ext uri="{FF2B5EF4-FFF2-40B4-BE49-F238E27FC236}">
                <a16:creationId xmlns:a16="http://schemas.microsoft.com/office/drawing/2014/main" id="{B60A476B-1D9D-4B96-891A-630BC92B14A2}"/>
              </a:ext>
            </a:extLst>
          </p:cNvPr>
          <p:cNvSpPr>
            <a:spLocks noGrp="1"/>
          </p:cNvSpPr>
          <p:nvPr>
            <p:ph idx="4294967295"/>
          </p:nvPr>
        </p:nvSpPr>
        <p:spPr>
          <a:xfrm>
            <a:off x="472281" y="990600"/>
            <a:ext cx="10863263" cy="4525963"/>
          </a:xfrm>
        </p:spPr>
        <p:txBody>
          <a:bodyPr rtlCol="0">
            <a:normAutofit fontScale="92500"/>
          </a:bodyPr>
          <a:lstStyle/>
          <a:p>
            <a:pPr marL="455613" indent="-455613">
              <a:lnSpc>
                <a:spcPct val="150000"/>
              </a:lnSpc>
              <a:spcBef>
                <a:spcPct val="30000"/>
              </a:spcBef>
              <a:buFont typeface="Calibri" pitchFamily="34" charset="0"/>
              <a:buChar char="•"/>
              <a:defRPr/>
            </a:pPr>
            <a:r>
              <a:rPr lang="en-GB" sz="2400" b="1" dirty="0">
                <a:solidFill>
                  <a:srgbClr val="C00000"/>
                </a:solidFill>
              </a:rPr>
              <a:t>Credit facility</a:t>
            </a:r>
            <a:r>
              <a:rPr lang="en-GB" sz="2400" dirty="0">
                <a:solidFill>
                  <a:srgbClr val="C00000"/>
                </a:solidFill>
              </a:rPr>
              <a:t>. </a:t>
            </a:r>
            <a:r>
              <a:rPr lang="en-GB" sz="2400" dirty="0"/>
              <a:t>No drain on your personal cash flows</a:t>
            </a:r>
          </a:p>
          <a:p>
            <a:pPr marL="455613" indent="-455613">
              <a:lnSpc>
                <a:spcPct val="150000"/>
              </a:lnSpc>
              <a:spcBef>
                <a:spcPct val="30000"/>
              </a:spcBef>
              <a:buFont typeface="Calibri" pitchFamily="34" charset="0"/>
              <a:buChar char="•"/>
              <a:defRPr/>
            </a:pPr>
            <a:r>
              <a:rPr lang="en-GB" sz="2400" b="1" dirty="0">
                <a:solidFill>
                  <a:srgbClr val="C00000"/>
                </a:solidFill>
              </a:rPr>
              <a:t>No need to collect documents </a:t>
            </a:r>
            <a:r>
              <a:rPr lang="en-GB" sz="2400" dirty="0"/>
              <a:t>and file claims. We reimburse network hospitals directly</a:t>
            </a:r>
          </a:p>
          <a:p>
            <a:pPr marL="455613" indent="-455613">
              <a:lnSpc>
                <a:spcPct val="150000"/>
              </a:lnSpc>
              <a:spcBef>
                <a:spcPct val="30000"/>
              </a:spcBef>
              <a:buFont typeface="Calibri" pitchFamily="34" charset="0"/>
              <a:buChar char="•"/>
              <a:defRPr/>
            </a:pPr>
            <a:r>
              <a:rPr lang="en-GB" sz="2400" dirty="0"/>
              <a:t>Treatment at hospitals with </a:t>
            </a:r>
            <a:r>
              <a:rPr lang="en-GB" sz="2400" b="1" dirty="0">
                <a:solidFill>
                  <a:srgbClr val="C00000"/>
                </a:solidFill>
              </a:rPr>
              <a:t>Good functional </a:t>
            </a:r>
            <a:r>
              <a:rPr lang="en-GB" sz="2400" dirty="0"/>
              <a:t>facilities</a:t>
            </a:r>
          </a:p>
          <a:p>
            <a:pPr marL="455613" indent="-455613">
              <a:lnSpc>
                <a:spcPct val="150000"/>
              </a:lnSpc>
              <a:spcBef>
                <a:spcPct val="30000"/>
              </a:spcBef>
              <a:buFont typeface="Calibri" pitchFamily="34" charset="0"/>
              <a:buChar char="•"/>
              <a:defRPr/>
            </a:pPr>
            <a:r>
              <a:rPr lang="en-GB" sz="2400" dirty="0"/>
              <a:t>Treatment by </a:t>
            </a:r>
            <a:r>
              <a:rPr lang="en-GB" sz="2400" b="1" dirty="0">
                <a:solidFill>
                  <a:srgbClr val="C00000"/>
                </a:solidFill>
              </a:rPr>
              <a:t>Credentialed physicians and surgeons</a:t>
            </a:r>
            <a:r>
              <a:rPr lang="en-GB" sz="2400" dirty="0">
                <a:solidFill>
                  <a:srgbClr val="C00000"/>
                </a:solidFill>
              </a:rPr>
              <a:t> </a:t>
            </a:r>
            <a:r>
              <a:rPr lang="en-GB" sz="2400" dirty="0"/>
              <a:t>qualified</a:t>
            </a:r>
            <a:r>
              <a:rPr lang="en-GB" sz="2400" dirty="0">
                <a:solidFill>
                  <a:srgbClr val="C00000"/>
                </a:solidFill>
              </a:rPr>
              <a:t> </a:t>
            </a:r>
            <a:r>
              <a:rPr lang="en-GB" sz="2400" dirty="0"/>
              <a:t>and trained to discharge the specific treatment.</a:t>
            </a:r>
          </a:p>
          <a:p>
            <a:pPr marL="455613" indent="-455613">
              <a:lnSpc>
                <a:spcPct val="150000"/>
              </a:lnSpc>
              <a:spcBef>
                <a:spcPct val="30000"/>
              </a:spcBef>
              <a:buFont typeface="Calibri" pitchFamily="34" charset="0"/>
              <a:buChar char="•"/>
              <a:defRPr/>
            </a:pPr>
            <a:r>
              <a:rPr lang="en-GB" sz="2400" dirty="0"/>
              <a:t>In Emergencies, you do not have to call us; this is the responsibility of the Panel Hospital</a:t>
            </a:r>
          </a:p>
          <a:p>
            <a:pPr>
              <a:defRPr/>
            </a:pPr>
            <a:endParaRPr lang="en-US" sz="2800" dirty="0"/>
          </a:p>
        </p:txBody>
      </p:sp>
    </p:spTree>
    <p:extLst>
      <p:ext uri="{BB962C8B-B14F-4D97-AF65-F5344CB8AC3E}">
        <p14:creationId xmlns:p14="http://schemas.microsoft.com/office/powerpoint/2010/main" val="2575880432"/>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Content Placeholder 2">
            <a:extLst>
              <a:ext uri="{FF2B5EF4-FFF2-40B4-BE49-F238E27FC236}">
                <a16:creationId xmlns:a16="http://schemas.microsoft.com/office/drawing/2014/main" id="{4CCE1C38-D808-43FC-95E8-16AE43657CA0}"/>
              </a:ext>
            </a:extLst>
          </p:cNvPr>
          <p:cNvSpPr>
            <a:spLocks noGrp="1"/>
          </p:cNvSpPr>
          <p:nvPr>
            <p:ph idx="4294967295"/>
          </p:nvPr>
        </p:nvSpPr>
        <p:spPr>
          <a:xfrm>
            <a:off x="243681" y="1371600"/>
            <a:ext cx="11201400" cy="4953000"/>
          </a:xfrm>
        </p:spPr>
        <p:txBody>
          <a:bodyPr>
            <a:normAutofit/>
          </a:bodyPr>
          <a:lstStyle/>
          <a:p>
            <a:pPr>
              <a:spcBef>
                <a:spcPts val="600"/>
              </a:spcBef>
              <a:buFont typeface="Wingdings" panose="05000000000000000000" pitchFamily="2" charset="2"/>
              <a:buChar char="§"/>
            </a:pPr>
            <a:r>
              <a:rPr lang="en-US" altLang="en-US" sz="1800" dirty="0"/>
              <a:t>Routine Medical Examinations </a:t>
            </a:r>
            <a:r>
              <a:rPr lang="en-US" altLang="en-US" sz="1800" dirty="0" smtClean="0"/>
              <a:t>– OPD</a:t>
            </a:r>
            <a:endParaRPr lang="en-US" altLang="en-US" sz="1800" dirty="0"/>
          </a:p>
          <a:p>
            <a:pPr>
              <a:spcBef>
                <a:spcPts val="600"/>
              </a:spcBef>
              <a:buFont typeface="Wingdings" panose="05000000000000000000" pitchFamily="2" charset="2"/>
              <a:buChar char="§"/>
            </a:pPr>
            <a:r>
              <a:rPr lang="en-US" altLang="en-US" sz="1800" dirty="0"/>
              <a:t>Treatment Related to Infertility, Contraception, Sterilizations</a:t>
            </a:r>
          </a:p>
          <a:p>
            <a:pPr>
              <a:spcBef>
                <a:spcPts val="600"/>
              </a:spcBef>
              <a:buFont typeface="Wingdings" panose="05000000000000000000" pitchFamily="2" charset="2"/>
              <a:buChar char="§"/>
            </a:pPr>
            <a:r>
              <a:rPr lang="en-US" altLang="en-US" sz="1800" dirty="0"/>
              <a:t>Prosthesis, Corrective Devices and medical appliances which are not surgically required</a:t>
            </a:r>
          </a:p>
          <a:p>
            <a:pPr>
              <a:spcBef>
                <a:spcPts val="600"/>
              </a:spcBef>
              <a:buFont typeface="Wingdings" panose="05000000000000000000" pitchFamily="2" charset="2"/>
              <a:buChar char="§"/>
            </a:pPr>
            <a:r>
              <a:rPr lang="en-US" altLang="en-US" sz="1800" dirty="0"/>
              <a:t>All cost related to transplant from a donor to recipient</a:t>
            </a:r>
          </a:p>
          <a:p>
            <a:pPr>
              <a:spcBef>
                <a:spcPts val="600"/>
              </a:spcBef>
              <a:buFont typeface="Wingdings" panose="05000000000000000000" pitchFamily="2" charset="2"/>
              <a:buChar char="§"/>
            </a:pPr>
            <a:r>
              <a:rPr lang="en-US" altLang="en-US" sz="1800" dirty="0"/>
              <a:t>Treatment of Mental Illness, Psychiatric or Nervous disorders</a:t>
            </a:r>
          </a:p>
          <a:p>
            <a:pPr>
              <a:spcBef>
                <a:spcPts val="600"/>
              </a:spcBef>
              <a:buFont typeface="Wingdings" panose="05000000000000000000" pitchFamily="2" charset="2"/>
              <a:buChar char="§"/>
            </a:pPr>
            <a:r>
              <a:rPr lang="en-US" altLang="en-US" sz="1800" dirty="0"/>
              <a:t>Self Inflicted Injuries, Suicide, Abuse of Alcohol, drug addiction</a:t>
            </a:r>
          </a:p>
          <a:p>
            <a:pPr>
              <a:spcBef>
                <a:spcPts val="600"/>
              </a:spcBef>
              <a:buFont typeface="Wingdings" panose="05000000000000000000" pitchFamily="2" charset="2"/>
              <a:buChar char="§"/>
            </a:pPr>
            <a:r>
              <a:rPr lang="en-US" altLang="en-US" sz="1800" dirty="0"/>
              <a:t>STD, AIDS or AIDS related conditions or diseases.</a:t>
            </a:r>
          </a:p>
          <a:p>
            <a:pPr>
              <a:spcBef>
                <a:spcPts val="600"/>
              </a:spcBef>
              <a:buFont typeface="Wingdings" panose="05000000000000000000" pitchFamily="2" charset="2"/>
              <a:buChar char="§"/>
            </a:pPr>
            <a:r>
              <a:rPr lang="en-US" altLang="en-US" sz="1800" dirty="0"/>
              <a:t>Elective Overseas </a:t>
            </a:r>
            <a:r>
              <a:rPr lang="en-US" altLang="en-US" sz="1800" dirty="0" smtClean="0"/>
              <a:t>treatment &amp; Cosmetic Treatment</a:t>
            </a:r>
            <a:endParaRPr lang="en-US" altLang="en-US" sz="1800" dirty="0"/>
          </a:p>
          <a:p>
            <a:pPr>
              <a:spcBef>
                <a:spcPts val="600"/>
              </a:spcBef>
              <a:buFont typeface="Wingdings" panose="05000000000000000000" pitchFamily="2" charset="2"/>
              <a:buChar char="§"/>
            </a:pPr>
            <a:r>
              <a:rPr lang="en-US" altLang="en-US" sz="1800" dirty="0"/>
              <a:t>Experimental or unproved </a:t>
            </a:r>
            <a:r>
              <a:rPr lang="en-US" altLang="en-US" sz="1800" dirty="0" smtClean="0"/>
              <a:t>treatment &amp; Dental Treatment</a:t>
            </a:r>
            <a:endParaRPr lang="en-US" altLang="en-US" sz="1800" dirty="0"/>
          </a:p>
          <a:p>
            <a:pPr>
              <a:spcBef>
                <a:spcPts val="600"/>
              </a:spcBef>
              <a:buFont typeface="Wingdings" panose="05000000000000000000" pitchFamily="2" charset="2"/>
              <a:buChar char="§"/>
            </a:pPr>
            <a:r>
              <a:rPr lang="en-US" altLang="en-US" sz="1800" dirty="0"/>
              <a:t>Injury or illness while serving as a full-time member of police or military unit.</a:t>
            </a:r>
          </a:p>
          <a:p>
            <a:pPr>
              <a:spcBef>
                <a:spcPts val="600"/>
              </a:spcBef>
              <a:buFont typeface="Wingdings" panose="05000000000000000000" pitchFamily="2" charset="2"/>
              <a:buChar char="§"/>
            </a:pPr>
            <a:r>
              <a:rPr lang="en-US" altLang="en-US" sz="1800" dirty="0"/>
              <a:t>Treatment resulting from </a:t>
            </a:r>
            <a:r>
              <a:rPr lang="en-US" altLang="en-US" sz="1800" i="1" u="sng" dirty="0"/>
              <a:t>participation</a:t>
            </a:r>
            <a:r>
              <a:rPr lang="en-US" altLang="en-US" sz="1800" dirty="0"/>
              <a:t> in war, riot, civil commotion or any illegal act which may result in imprisonment.</a:t>
            </a:r>
          </a:p>
          <a:p>
            <a:pPr>
              <a:spcBef>
                <a:spcPts val="600"/>
              </a:spcBef>
              <a:buFont typeface="Wingdings" panose="05000000000000000000" pitchFamily="2" charset="2"/>
              <a:buChar char="§"/>
            </a:pPr>
            <a:r>
              <a:rPr lang="en-US" altLang="en-US" sz="1800" dirty="0"/>
              <a:t>Costs arising out of any litigation or dispute between individual covered and any medical person or establishment from whom treatment has been sought.</a:t>
            </a:r>
            <a:endParaRPr lang="en-US" altLang="en-US" sz="600" dirty="0"/>
          </a:p>
        </p:txBody>
      </p:sp>
      <p:pic>
        <p:nvPicPr>
          <p:cNvPr id="4" name="Picture 3">
            <a:extLst>
              <a:ext uri="{FF2B5EF4-FFF2-40B4-BE49-F238E27FC236}">
                <a16:creationId xmlns:a16="http://schemas.microsoft.com/office/drawing/2014/main" id="{A55730CB-40BD-43ED-B4A7-44CFAAC1405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19881" y="76200"/>
            <a:ext cx="1373909" cy="1295400"/>
          </a:xfrm>
          <a:prstGeom prst="rect">
            <a:avLst/>
          </a:prstGeom>
        </p:spPr>
      </p:pic>
      <p:sp>
        <p:nvSpPr>
          <p:cNvPr id="7" name="Title 1">
            <a:extLst>
              <a:ext uri="{FF2B5EF4-FFF2-40B4-BE49-F238E27FC236}">
                <a16:creationId xmlns:a16="http://schemas.microsoft.com/office/drawing/2014/main" id="{31F1FD83-B934-4073-9D94-C1099FD2E11C}"/>
              </a:ext>
            </a:extLst>
          </p:cNvPr>
          <p:cNvSpPr txBox="1">
            <a:spLocks/>
          </p:cNvSpPr>
          <p:nvPr/>
        </p:nvSpPr>
        <p:spPr>
          <a:xfrm>
            <a:off x="1615281" y="175419"/>
            <a:ext cx="8047038" cy="10969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b="1" dirty="0">
                <a:solidFill>
                  <a:srgbClr val="FF0000"/>
                </a:solidFill>
              </a:rPr>
              <a:t>Exclusions</a:t>
            </a:r>
          </a:p>
        </p:txBody>
      </p:sp>
    </p:spTree>
    <p:extLst>
      <p:ext uri="{BB962C8B-B14F-4D97-AF65-F5344CB8AC3E}">
        <p14:creationId xmlns:p14="http://schemas.microsoft.com/office/powerpoint/2010/main" val="3044241518"/>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F9BC19B0-D7DC-45C1-89C8-E53E67E56693}"/>
              </a:ext>
            </a:extLst>
          </p:cNvPr>
          <p:cNvSpPr txBox="1">
            <a:spLocks/>
          </p:cNvSpPr>
          <p:nvPr/>
        </p:nvSpPr>
        <p:spPr>
          <a:xfrm>
            <a:off x="2374860" y="1246587"/>
            <a:ext cx="9694902" cy="760384"/>
          </a:xfrm>
          <a:prstGeom prst="rect">
            <a:avLst/>
          </a:prstGeom>
        </p:spPr>
        <p:txBody>
          <a:bodyPr vert="horz" lIns="90523" tIns="45262" rIns="90523" bIns="45262" rtlCol="0" anchor="ctr">
            <a:normAutofit lnSpcReduction="10000"/>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752" b="1" dirty="0">
                <a:solidFill>
                  <a:schemeClr val="tx1"/>
                </a:solidFill>
              </a:rPr>
              <a:t>Important Telephone Numbers</a:t>
            </a:r>
          </a:p>
        </p:txBody>
      </p:sp>
      <p:pic>
        <p:nvPicPr>
          <p:cNvPr id="5" name="Picture 4">
            <a:extLst>
              <a:ext uri="{FF2B5EF4-FFF2-40B4-BE49-F238E27FC236}">
                <a16:creationId xmlns:a16="http://schemas.microsoft.com/office/drawing/2014/main" id="{F452B935-D6F2-48BE-961A-118374B77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26" y="122020"/>
            <a:ext cx="2249134" cy="2249134"/>
          </a:xfrm>
          <a:prstGeom prst="rect">
            <a:avLst/>
          </a:prstGeom>
        </p:spPr>
      </p:pic>
      <p:sp>
        <p:nvSpPr>
          <p:cNvPr id="9" name="Rectangle 8">
            <a:extLst>
              <a:ext uri="{FF2B5EF4-FFF2-40B4-BE49-F238E27FC236}">
                <a16:creationId xmlns:a16="http://schemas.microsoft.com/office/drawing/2014/main" id="{DBBFE327-54E6-421E-8255-45AE995BB152}"/>
              </a:ext>
            </a:extLst>
          </p:cNvPr>
          <p:cNvSpPr/>
          <p:nvPr/>
        </p:nvSpPr>
        <p:spPr>
          <a:xfrm>
            <a:off x="729215" y="2867864"/>
            <a:ext cx="10900504" cy="2651880"/>
          </a:xfrm>
          <a:prstGeom prst="rect">
            <a:avLst/>
          </a:prstGeom>
        </p:spPr>
        <p:txBody>
          <a:bodyPr wrap="square">
            <a:spAutoFit/>
          </a:bodyPr>
          <a:lstStyle/>
          <a:p>
            <a:pPr marL="605585" lvl="1" indent="-2096"/>
            <a:r>
              <a:rPr lang="en-US" sz="2772" b="1" dirty="0">
                <a:solidFill>
                  <a:schemeClr val="tx1">
                    <a:lumMod val="85000"/>
                    <a:lumOff val="15000"/>
                  </a:schemeClr>
                </a:solidFill>
              </a:rPr>
              <a:t>24 Hours Medical Hotline:		0301 8223385</a:t>
            </a:r>
          </a:p>
          <a:p>
            <a:pPr marL="605585" lvl="1" indent="-2096"/>
            <a:endParaRPr lang="en-US" sz="2772" b="1" dirty="0">
              <a:solidFill>
                <a:schemeClr val="tx1">
                  <a:lumMod val="85000"/>
                  <a:lumOff val="15000"/>
                </a:schemeClr>
              </a:solidFill>
            </a:endParaRPr>
          </a:p>
          <a:p>
            <a:pPr marL="605585" lvl="1" indent="-2096"/>
            <a:r>
              <a:rPr lang="en-US" sz="2772" b="1" dirty="0">
                <a:solidFill>
                  <a:schemeClr val="tx1">
                    <a:lumMod val="85000"/>
                    <a:lumOff val="15000"/>
                  </a:schemeClr>
                </a:solidFill>
              </a:rPr>
              <a:t>Customer Service:			</a:t>
            </a:r>
            <a:r>
              <a:rPr lang="en-US" sz="2772" b="1" dirty="0" smtClean="0">
                <a:solidFill>
                  <a:schemeClr val="tx1">
                    <a:lumMod val="85000"/>
                    <a:lumOff val="15000"/>
                  </a:schemeClr>
                </a:solidFill>
              </a:rPr>
              <a:t>021-111-Takaful </a:t>
            </a:r>
            <a:r>
              <a:rPr lang="en-US" sz="2772" b="1" dirty="0">
                <a:solidFill>
                  <a:schemeClr val="tx1">
                    <a:lumMod val="85000"/>
                    <a:lumOff val="15000"/>
                  </a:schemeClr>
                </a:solidFill>
              </a:rPr>
              <a:t>(825238)		</a:t>
            </a:r>
          </a:p>
          <a:p>
            <a:pPr marL="605585" lvl="1" indent="-2096"/>
            <a:endParaRPr lang="en-US" sz="2772" b="1" dirty="0">
              <a:solidFill>
                <a:schemeClr val="tx1">
                  <a:lumMod val="85000"/>
                  <a:lumOff val="15000"/>
                </a:schemeClr>
              </a:solidFill>
            </a:endParaRPr>
          </a:p>
          <a:p>
            <a:pPr marL="605585" lvl="1" indent="-2096"/>
            <a:r>
              <a:rPr lang="en-US" sz="2772" b="1" dirty="0">
                <a:solidFill>
                  <a:schemeClr val="tx1">
                    <a:lumMod val="85000"/>
                    <a:lumOff val="15000"/>
                  </a:schemeClr>
                </a:solidFill>
              </a:rPr>
              <a:t>DURING OFFICE HOURS:		(021) 34311747 - 56</a:t>
            </a:r>
          </a:p>
        </p:txBody>
      </p:sp>
    </p:spTree>
    <p:extLst>
      <p:ext uri="{BB962C8B-B14F-4D97-AF65-F5344CB8AC3E}">
        <p14:creationId xmlns:p14="http://schemas.microsoft.com/office/powerpoint/2010/main" val="52196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4D6A16-2AE7-4075-944C-AC1E9EDFA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6681" y="2377114"/>
            <a:ext cx="9571371" cy="3190457"/>
          </a:xfrm>
          <a:prstGeom prst="rect">
            <a:avLst/>
          </a:prstGeom>
        </p:spPr>
      </p:pic>
      <p:sp>
        <p:nvSpPr>
          <p:cNvPr id="6" name="TextBox 5">
            <a:extLst>
              <a:ext uri="{FF2B5EF4-FFF2-40B4-BE49-F238E27FC236}">
                <a16:creationId xmlns:a16="http://schemas.microsoft.com/office/drawing/2014/main" id="{5DB0B652-FF71-4214-9587-D0F923709E84}"/>
              </a:ext>
            </a:extLst>
          </p:cNvPr>
          <p:cNvSpPr txBox="1"/>
          <p:nvPr/>
        </p:nvSpPr>
        <p:spPr>
          <a:xfrm>
            <a:off x="1996281" y="762000"/>
            <a:ext cx="7772400" cy="2123658"/>
          </a:xfrm>
          <a:prstGeom prst="rect">
            <a:avLst/>
          </a:prstGeom>
          <a:noFill/>
        </p:spPr>
        <p:txBody>
          <a:bodyPr wrap="square">
            <a:spAutoFit/>
          </a:bodyPr>
          <a:lstStyle/>
          <a:p>
            <a:pPr algn="ctr">
              <a:defRPr/>
            </a:pPr>
            <a:r>
              <a:rPr lang="en-US" sz="4400" b="1" dirty="0"/>
              <a:t>Our </a:t>
            </a:r>
          </a:p>
          <a:p>
            <a:pPr algn="ctr">
              <a:defRPr/>
            </a:pPr>
            <a:r>
              <a:rPr lang="en-US" sz="4400" b="1" dirty="0"/>
              <a:t>Panel Hospital Network</a:t>
            </a:r>
          </a:p>
          <a:p>
            <a:pPr algn="ctr">
              <a:defRPr/>
            </a:pPr>
            <a:endParaRPr lang="en-US" sz="44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51C31F2E-978E-427C-B56A-E5A31CD9A67D}"/>
              </a:ext>
            </a:extLst>
          </p:cNvPr>
          <p:cNvSpPr>
            <a:spLocks noGrp="1"/>
          </p:cNvSpPr>
          <p:nvPr>
            <p:ph type="title" idx="4294967295"/>
          </p:nvPr>
        </p:nvSpPr>
        <p:spPr>
          <a:xfrm>
            <a:off x="205580" y="426720"/>
            <a:ext cx="3695701" cy="1617980"/>
          </a:xfrm>
        </p:spPr>
        <p:txBody>
          <a:bodyPr>
            <a:normAutofit/>
          </a:bodyPr>
          <a:lstStyle/>
          <a:p>
            <a:pPr algn="l" eaLnBrk="1" hangingPunct="1"/>
            <a:r>
              <a:rPr lang="en-US" altLang="en-US" sz="2800" b="1" dirty="0">
                <a:solidFill>
                  <a:srgbClr val="40B4E7"/>
                </a:solidFill>
                <a:effectLst>
                  <a:outerShdw blurRad="38100" dist="38100" dir="2700000" algn="tl">
                    <a:srgbClr val="000000">
                      <a:alpha val="43137"/>
                    </a:srgbClr>
                  </a:outerShdw>
                </a:effectLst>
              </a:rPr>
              <a:t>Hospital Network</a:t>
            </a:r>
            <a:br>
              <a:rPr lang="en-US" altLang="en-US" sz="2800" b="1" dirty="0">
                <a:solidFill>
                  <a:srgbClr val="40B4E7"/>
                </a:solidFill>
                <a:effectLst>
                  <a:outerShdw blurRad="38100" dist="38100" dir="2700000" algn="tl">
                    <a:srgbClr val="000000">
                      <a:alpha val="43137"/>
                    </a:srgbClr>
                  </a:outerShdw>
                </a:effectLst>
              </a:rPr>
            </a:br>
            <a:r>
              <a:rPr lang="en-US" altLang="en-US" sz="2800" b="1" dirty="0">
                <a:solidFill>
                  <a:srgbClr val="40B4E7"/>
                </a:solidFill>
                <a:effectLst>
                  <a:outerShdw blurRad="38100" dist="38100" dir="2700000" algn="tl">
                    <a:srgbClr val="000000">
                      <a:alpha val="43137"/>
                    </a:srgbClr>
                  </a:outerShdw>
                </a:effectLst>
              </a:rPr>
              <a:t>Across </a:t>
            </a:r>
            <a:r>
              <a:rPr lang="en-US" altLang="en-US" sz="2800" b="1" dirty="0" smtClean="0">
                <a:solidFill>
                  <a:srgbClr val="40B4E7"/>
                </a:solidFill>
                <a:effectLst>
                  <a:outerShdw blurRad="38100" dist="38100" dir="2700000" algn="tl">
                    <a:srgbClr val="000000">
                      <a:alpha val="43137"/>
                    </a:srgbClr>
                  </a:outerShdw>
                </a:effectLst>
              </a:rPr>
              <a:t>Pakistan-273</a:t>
            </a:r>
            <a:endParaRPr lang="en-US" altLang="en-US" sz="2800" b="1" dirty="0">
              <a:solidFill>
                <a:srgbClr val="40B4E7"/>
              </a:solidFill>
              <a:effectLst>
                <a:outerShdw blurRad="38100" dist="38100" dir="2700000" algn="tl">
                  <a:srgbClr val="000000">
                    <a:alpha val="43137"/>
                  </a:srgbClr>
                </a:outerShdw>
              </a:effectLst>
            </a:endParaRPr>
          </a:p>
        </p:txBody>
      </p:sp>
      <p:grpSp>
        <p:nvGrpSpPr>
          <p:cNvPr id="2" name="Group 1">
            <a:extLst>
              <a:ext uri="{FF2B5EF4-FFF2-40B4-BE49-F238E27FC236}">
                <a16:creationId xmlns:a16="http://schemas.microsoft.com/office/drawing/2014/main" id="{20A0F190-B9F8-4945-874D-78B5E036629A}"/>
              </a:ext>
            </a:extLst>
          </p:cNvPr>
          <p:cNvGrpSpPr/>
          <p:nvPr/>
        </p:nvGrpSpPr>
        <p:grpSpPr>
          <a:xfrm>
            <a:off x="3291681" y="599440"/>
            <a:ext cx="8472209" cy="5486400"/>
            <a:chOff x="2605881" y="914400"/>
            <a:chExt cx="8472209" cy="5486400"/>
          </a:xfrm>
        </p:grpSpPr>
        <p:pic>
          <p:nvPicPr>
            <p:cNvPr id="66563" name="Picture 2">
              <a:extLst>
                <a:ext uri="{FF2B5EF4-FFF2-40B4-BE49-F238E27FC236}">
                  <a16:creationId xmlns:a16="http://schemas.microsoft.com/office/drawing/2014/main" id="{09196539-4019-4091-9975-93F7EC916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124" t="33000" r="21875" b="24001"/>
            <a:stretch>
              <a:fillRect/>
            </a:stretch>
          </p:blipFill>
          <p:spPr bwMode="auto">
            <a:xfrm>
              <a:off x="2867342" y="1752600"/>
              <a:ext cx="58547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ular Callout 4">
              <a:extLst>
                <a:ext uri="{FF2B5EF4-FFF2-40B4-BE49-F238E27FC236}">
                  <a16:creationId xmlns:a16="http://schemas.microsoft.com/office/drawing/2014/main" id="{AC937F99-61EE-4687-97EF-410406D840DB}"/>
                </a:ext>
              </a:extLst>
            </p:cNvPr>
            <p:cNvSpPr/>
            <p:nvPr/>
          </p:nvSpPr>
          <p:spPr>
            <a:xfrm>
              <a:off x="2867342" y="3124200"/>
              <a:ext cx="1734820" cy="764540"/>
            </a:xfrm>
            <a:prstGeom prst="wedgeRectCallout">
              <a:avLst>
                <a:gd name="adj1" fmla="val 54167"/>
                <a:gd name="adj2" fmla="val 130106"/>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Quetta = 2</a:t>
              </a:r>
            </a:p>
          </p:txBody>
        </p:sp>
        <p:sp>
          <p:nvSpPr>
            <p:cNvPr id="6" name="Rectangular Callout 5">
              <a:extLst>
                <a:ext uri="{FF2B5EF4-FFF2-40B4-BE49-F238E27FC236}">
                  <a16:creationId xmlns:a16="http://schemas.microsoft.com/office/drawing/2014/main" id="{C2EB696F-F7A6-4C22-B3D6-30212F1E9FA0}"/>
                </a:ext>
              </a:extLst>
            </p:cNvPr>
            <p:cNvSpPr/>
            <p:nvPr/>
          </p:nvSpPr>
          <p:spPr>
            <a:xfrm>
              <a:off x="2605881" y="5334000"/>
              <a:ext cx="1905000" cy="1066800"/>
            </a:xfrm>
            <a:prstGeom prst="wedgeRectCallout">
              <a:avLst>
                <a:gd name="adj1" fmla="val 84600"/>
                <a:gd name="adj2" fmla="val -69331"/>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Karachi city = 44 Hyderabad = 2</a:t>
              </a:r>
            </a:p>
            <a:p>
              <a:pPr algn="ctr">
                <a:defRPr/>
              </a:pPr>
              <a:r>
                <a:rPr lang="en-US" dirty="0"/>
                <a:t>Sukkur = 2</a:t>
              </a:r>
            </a:p>
          </p:txBody>
        </p:sp>
        <p:sp>
          <p:nvSpPr>
            <p:cNvPr id="7" name="Rectangular Callout 6">
              <a:extLst>
                <a:ext uri="{FF2B5EF4-FFF2-40B4-BE49-F238E27FC236}">
                  <a16:creationId xmlns:a16="http://schemas.microsoft.com/office/drawing/2014/main" id="{561AA8B3-727B-4911-8C10-BE334A4E1536}"/>
                </a:ext>
              </a:extLst>
            </p:cNvPr>
            <p:cNvSpPr/>
            <p:nvPr/>
          </p:nvSpPr>
          <p:spPr>
            <a:xfrm>
              <a:off x="7925871" y="4036060"/>
              <a:ext cx="3152219" cy="2057400"/>
            </a:xfrm>
            <a:prstGeom prst="wedgeRectCallout">
              <a:avLst>
                <a:gd name="adj1" fmla="val -85672"/>
                <a:gd name="adj2" fmla="val -79142"/>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en-US" dirty="0"/>
            </a:p>
            <a:p>
              <a:pPr algn="ctr">
                <a:defRPr/>
              </a:pPr>
              <a:r>
                <a:rPr lang="en-US" dirty="0"/>
                <a:t>Lahore = 20</a:t>
              </a:r>
            </a:p>
            <a:p>
              <a:pPr algn="ctr">
                <a:defRPr/>
              </a:pPr>
              <a:r>
                <a:rPr lang="en-US" dirty="0"/>
                <a:t>Sheikupura = 1</a:t>
              </a:r>
            </a:p>
            <a:p>
              <a:pPr algn="ctr">
                <a:defRPr/>
              </a:pPr>
              <a:r>
                <a:rPr lang="en-US" dirty="0"/>
                <a:t>Sialkot = 2</a:t>
              </a:r>
            </a:p>
            <a:p>
              <a:pPr algn="ctr">
                <a:defRPr/>
              </a:pPr>
              <a:r>
                <a:rPr lang="en-US" dirty="0"/>
                <a:t>Faisalabad = 5</a:t>
              </a:r>
            </a:p>
            <a:p>
              <a:pPr algn="ctr">
                <a:defRPr/>
              </a:pPr>
              <a:r>
                <a:rPr lang="en-US" dirty="0"/>
                <a:t>Gujranwala = 3</a:t>
              </a:r>
            </a:p>
            <a:p>
              <a:pPr algn="ctr">
                <a:defRPr/>
              </a:pPr>
              <a:r>
                <a:rPr lang="en-US" dirty="0"/>
                <a:t>Rahim Yar Khan = 1</a:t>
              </a:r>
            </a:p>
            <a:p>
              <a:pPr algn="ctr">
                <a:defRPr/>
              </a:pPr>
              <a:r>
                <a:rPr lang="en-US" dirty="0"/>
                <a:t>Multan = 4</a:t>
              </a:r>
            </a:p>
            <a:p>
              <a:pPr algn="ctr">
                <a:defRPr/>
              </a:pPr>
              <a:endParaRPr lang="en-US" dirty="0"/>
            </a:p>
          </p:txBody>
        </p:sp>
        <p:sp>
          <p:nvSpPr>
            <p:cNvPr id="8" name="Rectangular Callout 7">
              <a:extLst>
                <a:ext uri="{FF2B5EF4-FFF2-40B4-BE49-F238E27FC236}">
                  <a16:creationId xmlns:a16="http://schemas.microsoft.com/office/drawing/2014/main" id="{769CD977-7FD2-4D73-B5B1-AC26281D3E85}"/>
                </a:ext>
              </a:extLst>
            </p:cNvPr>
            <p:cNvSpPr/>
            <p:nvPr/>
          </p:nvSpPr>
          <p:spPr>
            <a:xfrm>
              <a:off x="6873080" y="914400"/>
              <a:ext cx="1848961" cy="685800"/>
            </a:xfrm>
            <a:prstGeom prst="wedgeRectCallout">
              <a:avLst>
                <a:gd name="adj1" fmla="val -16653"/>
                <a:gd name="adj2" fmla="val 190736"/>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Mirpur (AJK) = 1</a:t>
              </a:r>
            </a:p>
          </p:txBody>
        </p:sp>
        <p:sp>
          <p:nvSpPr>
            <p:cNvPr id="9" name="Rectangular Callout 8">
              <a:extLst>
                <a:ext uri="{FF2B5EF4-FFF2-40B4-BE49-F238E27FC236}">
                  <a16:creationId xmlns:a16="http://schemas.microsoft.com/office/drawing/2014/main" id="{90986C88-AF5B-4E0A-B017-F18B048B64C6}"/>
                </a:ext>
              </a:extLst>
            </p:cNvPr>
            <p:cNvSpPr/>
            <p:nvPr/>
          </p:nvSpPr>
          <p:spPr>
            <a:xfrm>
              <a:off x="3901281" y="1143000"/>
              <a:ext cx="2286000" cy="838200"/>
            </a:xfrm>
            <a:prstGeom prst="wedgeRectCallout">
              <a:avLst>
                <a:gd name="adj1" fmla="val 75489"/>
                <a:gd name="adj2" fmla="val 142899"/>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Peshawar =3</a:t>
              </a:r>
            </a:p>
            <a:p>
              <a:pPr algn="ctr">
                <a:defRPr/>
              </a:pPr>
              <a:r>
                <a:rPr lang="en-US" dirty="0"/>
                <a:t>Mardan = 1</a:t>
              </a:r>
            </a:p>
          </p:txBody>
        </p:sp>
        <p:sp>
          <p:nvSpPr>
            <p:cNvPr id="10" name="Rectangular Callout 9">
              <a:extLst>
                <a:ext uri="{FF2B5EF4-FFF2-40B4-BE49-F238E27FC236}">
                  <a16:creationId xmlns:a16="http://schemas.microsoft.com/office/drawing/2014/main" id="{066BD0CC-8BBF-42B2-BBB0-3A1E4F0C84C9}"/>
                </a:ext>
              </a:extLst>
            </p:cNvPr>
            <p:cNvSpPr/>
            <p:nvPr/>
          </p:nvSpPr>
          <p:spPr>
            <a:xfrm>
              <a:off x="8168481" y="1673860"/>
              <a:ext cx="2209800" cy="1371600"/>
            </a:xfrm>
            <a:prstGeom prst="wedgeRectCallout">
              <a:avLst>
                <a:gd name="adj1" fmla="val -109141"/>
                <a:gd name="adj2" fmla="val 43298"/>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Islamabad = 5</a:t>
              </a:r>
            </a:p>
            <a:p>
              <a:pPr algn="ctr">
                <a:defRPr/>
              </a:pPr>
              <a:r>
                <a:rPr lang="en-US" dirty="0"/>
                <a:t>Rawalpindi = 7</a:t>
              </a:r>
            </a:p>
            <a:p>
              <a:pPr algn="ctr">
                <a:defRPr/>
              </a:pPr>
              <a:r>
                <a:rPr lang="en-US" dirty="0"/>
                <a:t>Sargodha = 1</a:t>
              </a:r>
            </a:p>
            <a:p>
              <a:pPr algn="ctr">
                <a:defRPr/>
              </a:pPr>
              <a:r>
                <a:rPr lang="en-US" dirty="0"/>
                <a:t>Abbottabad = 1</a:t>
              </a:r>
            </a:p>
            <a:p>
              <a:pPr algn="ctr">
                <a:defRPr/>
              </a:pPr>
              <a:endParaRPr lang="en-US" dirty="0"/>
            </a:p>
          </p:txBody>
        </p:sp>
      </p:grpSp>
      <p:pic>
        <p:nvPicPr>
          <p:cNvPr id="4" name="Picture 3">
            <a:extLst>
              <a:ext uri="{FF2B5EF4-FFF2-40B4-BE49-F238E27FC236}">
                <a16:creationId xmlns:a16="http://schemas.microsoft.com/office/drawing/2014/main" id="{DC5CB914-D163-44DA-9A83-E8B2524232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502" y="1819812"/>
            <a:ext cx="2883694" cy="2366108"/>
          </a:xfrm>
          <a:prstGeom prst="rect">
            <a:avLst/>
          </a:prstGeom>
        </p:spPr>
      </p:pic>
    </p:spTree>
    <p:extLst>
      <p:ext uri="{BB962C8B-B14F-4D97-AF65-F5344CB8AC3E}">
        <p14:creationId xmlns:p14="http://schemas.microsoft.com/office/powerpoint/2010/main" val="274535779"/>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973C44BE-19D4-4C4C-A896-3289F9B8D9A4}"/>
              </a:ext>
            </a:extLst>
          </p:cNvPr>
          <p:cNvSpPr txBox="1">
            <a:spLocks noChangeArrowheads="1"/>
          </p:cNvSpPr>
          <p:nvPr/>
        </p:nvSpPr>
        <p:spPr bwMode="auto">
          <a:xfrm>
            <a:off x="2148681" y="2133600"/>
            <a:ext cx="777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1" fontAlgn="base" hangingPunct="1">
              <a:spcBef>
                <a:spcPct val="0"/>
              </a:spcBef>
              <a:spcAft>
                <a:spcPct val="0"/>
              </a:spcAft>
              <a:defRPr sz="33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Arial" charset="0"/>
                <a:cs typeface="Arial" charset="0"/>
              </a:defRPr>
            </a:lvl2pPr>
            <a:lvl3pPr algn="l" rtl="0" eaLnBrk="1" fontAlgn="base" hangingPunct="1">
              <a:spcBef>
                <a:spcPct val="0"/>
              </a:spcBef>
              <a:spcAft>
                <a:spcPct val="0"/>
              </a:spcAft>
              <a:defRPr sz="2800" b="1">
                <a:solidFill>
                  <a:schemeClr val="tx1"/>
                </a:solidFill>
                <a:latin typeface="Arial" charset="0"/>
                <a:cs typeface="Arial" charset="0"/>
              </a:defRPr>
            </a:lvl3pPr>
            <a:lvl4pPr algn="l" rtl="0" eaLnBrk="1" fontAlgn="base" hangingPunct="1">
              <a:spcBef>
                <a:spcPct val="0"/>
              </a:spcBef>
              <a:spcAft>
                <a:spcPct val="0"/>
              </a:spcAft>
              <a:defRPr sz="2800" b="1">
                <a:solidFill>
                  <a:schemeClr val="tx1"/>
                </a:solidFill>
                <a:latin typeface="Arial" charset="0"/>
                <a:cs typeface="Arial" charset="0"/>
              </a:defRPr>
            </a:lvl4pPr>
            <a:lvl5pPr algn="l" rtl="0" eaLnBrk="1" fontAlgn="base" hangingPunct="1">
              <a:spcBef>
                <a:spcPct val="0"/>
              </a:spcBef>
              <a:spcAft>
                <a:spcPct val="0"/>
              </a:spcAft>
              <a:defRPr sz="2800" b="1">
                <a:solidFill>
                  <a:schemeClr val="tx1"/>
                </a:solidFill>
                <a:latin typeface="Arial" charset="0"/>
                <a:cs typeface="Arial" charset="0"/>
              </a:defRPr>
            </a:lvl5pPr>
            <a:lvl6pPr marL="457200" algn="l" rtl="0" eaLnBrk="1" fontAlgn="base" hangingPunct="1">
              <a:spcBef>
                <a:spcPct val="0"/>
              </a:spcBef>
              <a:spcAft>
                <a:spcPct val="0"/>
              </a:spcAft>
              <a:defRPr sz="2800" b="1">
                <a:solidFill>
                  <a:schemeClr val="bg1"/>
                </a:solidFill>
                <a:latin typeface="Arial" charset="0"/>
                <a:cs typeface="Arial" charset="0"/>
              </a:defRPr>
            </a:lvl6pPr>
            <a:lvl7pPr marL="914400" algn="l" rtl="0" eaLnBrk="1" fontAlgn="base" hangingPunct="1">
              <a:spcBef>
                <a:spcPct val="0"/>
              </a:spcBef>
              <a:spcAft>
                <a:spcPct val="0"/>
              </a:spcAft>
              <a:defRPr sz="2800" b="1">
                <a:solidFill>
                  <a:schemeClr val="bg1"/>
                </a:solidFill>
                <a:latin typeface="Arial" charset="0"/>
                <a:cs typeface="Arial" charset="0"/>
              </a:defRPr>
            </a:lvl7pPr>
            <a:lvl8pPr marL="1371600" algn="l" rtl="0" eaLnBrk="1" fontAlgn="base" hangingPunct="1">
              <a:spcBef>
                <a:spcPct val="0"/>
              </a:spcBef>
              <a:spcAft>
                <a:spcPct val="0"/>
              </a:spcAft>
              <a:defRPr sz="2800" b="1">
                <a:solidFill>
                  <a:schemeClr val="bg1"/>
                </a:solidFill>
                <a:latin typeface="Arial" charset="0"/>
                <a:cs typeface="Arial" charset="0"/>
              </a:defRPr>
            </a:lvl8pPr>
            <a:lvl9pPr marL="1828800" algn="l" rtl="0" eaLnBrk="1" fontAlgn="base" hangingPunct="1">
              <a:spcBef>
                <a:spcPct val="0"/>
              </a:spcBef>
              <a:spcAft>
                <a:spcPct val="0"/>
              </a:spcAft>
              <a:defRPr sz="2800" b="1">
                <a:solidFill>
                  <a:schemeClr val="bg1"/>
                </a:solidFill>
                <a:latin typeface="Arial" charset="0"/>
                <a:cs typeface="Arial" charset="0"/>
              </a:defRPr>
            </a:lvl9pPr>
          </a:lstStyle>
          <a:p>
            <a:pPr lvl="0">
              <a:defRPr/>
            </a:pPr>
            <a:r>
              <a:rPr lang="ur-PK" sz="7200" dirty="0">
                <a:solidFill>
                  <a:srgbClr val="2F2B2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جزاکم اللہ تعالیٰ خیرا</a:t>
            </a:r>
          </a:p>
        </p:txBody>
      </p:sp>
      <p:pic>
        <p:nvPicPr>
          <p:cNvPr id="8" name="Picture 7">
            <a:extLst>
              <a:ext uri="{FF2B5EF4-FFF2-40B4-BE49-F238E27FC236}">
                <a16:creationId xmlns:a16="http://schemas.microsoft.com/office/drawing/2014/main" id="{7579ED9C-31F5-45D1-8101-E23FD3EDDF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0692" y="3810000"/>
            <a:ext cx="2928377" cy="1121436"/>
          </a:xfrm>
          <a:prstGeom prst="rect">
            <a:avLst/>
          </a:prstGeom>
        </p:spPr>
      </p:pic>
    </p:spTree>
    <p:extLst>
      <p:ext uri="{BB962C8B-B14F-4D97-AF65-F5344CB8AC3E}">
        <p14:creationId xmlns:p14="http://schemas.microsoft.com/office/powerpoint/2010/main" val="39425099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PQFT 201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PQFT-2</Template>
  <TotalTime>52493</TotalTime>
  <Words>1258</Words>
  <Application>Microsoft Office PowerPoint</Application>
  <PresentationFormat>Custom</PresentationFormat>
  <Paragraphs>234</Paragraphs>
  <Slides>28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Rounded MT Bold</vt:lpstr>
      <vt:lpstr>Calibri</vt:lpstr>
      <vt:lpstr>Monotype Corsiva</vt:lpstr>
      <vt:lpstr>Times New Roman</vt:lpstr>
      <vt:lpstr>Wingdings</vt:lpstr>
      <vt:lpstr>PQFT 2019</vt:lpstr>
      <vt:lpstr>Corporate  Takaful Products</vt:lpstr>
      <vt:lpstr>Outline</vt:lpstr>
      <vt:lpstr>PowerPoint Presentation</vt:lpstr>
      <vt:lpstr>PowerPoint Presentation</vt:lpstr>
      <vt:lpstr> Hospital Care Benefit:</vt:lpstr>
      <vt:lpstr> Benefits Conti---</vt:lpstr>
      <vt:lpstr> Benefits Conti---</vt:lpstr>
      <vt:lpstr> Benefits Conti--</vt:lpstr>
      <vt:lpstr> Benefits Conti--</vt:lpstr>
      <vt:lpstr> Unique Benefits</vt:lpstr>
      <vt:lpstr>Entitlement</vt:lpstr>
      <vt:lpstr> Terms and Conditions</vt:lpstr>
      <vt:lpstr>PowerPoint Presentation</vt:lpstr>
      <vt:lpstr>PowerPoint Presentation</vt:lpstr>
      <vt:lpstr>Procedure for Hospital Admission</vt:lpstr>
      <vt:lpstr>Procedure for Hospital Admission</vt:lpstr>
      <vt:lpstr>Pre-Authorization Form</vt:lpstr>
      <vt:lpstr>Disadvantages of Using a non-Network Hospital</vt:lpstr>
      <vt:lpstr>Documents Required for Claims Reimbursement (in-Patient)</vt:lpstr>
      <vt:lpstr>PowerPoint Presentation</vt:lpstr>
      <vt:lpstr>PowerPoint Presentation</vt:lpstr>
      <vt:lpstr>PowerPoint Presentation</vt:lpstr>
      <vt:lpstr> Advantages of Using a Network Hospital</vt:lpstr>
      <vt:lpstr>PowerPoint Presentation</vt:lpstr>
      <vt:lpstr>PowerPoint Presentation</vt:lpstr>
      <vt:lpstr>PowerPoint Presentation</vt:lpstr>
      <vt:lpstr>Hospital Network Across Pakistan-273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 of the Insurance Industry</dc:title>
  <dc:creator>Tariq Saeed Chaudhry</dc:creator>
  <cp:lastModifiedBy>PQ-Waqas Shafat</cp:lastModifiedBy>
  <cp:revision>925</cp:revision>
  <dcterms:created xsi:type="dcterms:W3CDTF">2006-08-16T00:00:00Z</dcterms:created>
  <dcterms:modified xsi:type="dcterms:W3CDTF">2023-07-24T07:46:40Z</dcterms:modified>
</cp:coreProperties>
</file>